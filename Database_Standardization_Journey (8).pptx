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transforming our fragmented database landscape into a unified, resilient architecture. This move from disparate systems to Aurora PostgreSQL Multi-region isn't just a technical upgrade; it's a strategic imperative. We're consolidating our architecture, which drives significant cost efficiencies and improves our operational excellence globally. This standardization also optimizes our talent, closing skill gaps and enabling a more agile support model across applications. Ultimately, we're building a stronger foundation to accelerate innovation and ensure global resilience. Now, let's look at how we'll evolve our multi-region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modernization journey involves a clear evolution of our multi-region database architecture. We'll move from an Active-Pilot Light setup, which provides basic disaster recovery, to an Active-Warm Standby. This second stage offers continuous replication, significantly improving our recovery time objectives. The ultimate goal is an Active-Active configuration with Aurora PostgreSQL, ensuring maximum availability and performance across regions. This phased approach allows us to manage risk and build capabilities incrementally. This progression is key to achieving the strategic enablement we just discussed.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migration journey is built on three core strategic pillars. First, we'll build a robust framework and establish clear standards to guide our efforts. This ensures consistency and efficiency across all migrations. Second, we're actively working to remove vendor lock-in, giving us greater flexibility and control over our technology stack. Finally, we'll standardize and redesign our systems, optimizing them for the new Aurora PostgreSQL environment. These pillars are critical to a successful and sustainable transformation. Now, let's examine the specific paths our applications will take on this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see the detailed roadmap for our application migration paths to the target state. Each application will follow a tailored journey, moving through various stages of modernization. For example, some applications will transition from single-region Oracle RDS directly to an Active-Active Aurora PostgreSQL setup. Others will move through intermediate steps like Active-Pilot Light or Active-Warm Standby. This granular approach ensures we manage complexity and risk effectively, guiding each application to its optimal, multi-region Aurora PostgreSQL state. This roadmap is our blueprint for achieving the operational excellence and strategic consolidation we've outlined.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slideLayout" Target="../slideLayouts/slideLayout1.xml"/><Relationship Id="rId1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image" Target="../media/image-4-20.png"/><Relationship Id="rId21" Type="http://schemas.openxmlformats.org/officeDocument/2006/relationships/image" Target="../media/image-4-21.png"/><Relationship Id="rId22" Type="http://schemas.openxmlformats.org/officeDocument/2006/relationships/image" Target="../media/image-4-22.png"/><Relationship Id="rId23" Type="http://schemas.openxmlformats.org/officeDocument/2006/relationships/image" Target="../media/image-4-23.png"/><Relationship Id="rId24" Type="http://schemas.openxmlformats.org/officeDocument/2006/relationships/slideLayout" Target="../slideLayouts/slideLayout1.xml"/><Relationship Id="rId2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0" y="214313"/>
            <a:ext cx="9144000" cy="817959"/>
          </a:xfrm>
          <a:prstGeom prst="rect">
            <a:avLst/>
          </a:prstGeom>
          <a:noFill/>
          <a:ln/>
        </p:spPr>
        <p:txBody>
          <a:bodyPr wrap="square" lIns="0" tIns="0" rIns="0" bIns="0" rtlCol="0" anchor="t">
            <a:spAutoFit/>
          </a:bodyPr>
          <a:lstStyle/>
          <a:p>
            <a:pPr algn="ctr" indent="0" marL="0">
              <a:lnSpc>
                <a:spcPts val="2800"/>
              </a:lnSpc>
              <a:buNone/>
            </a:pPr>
            <a:r>
              <a:rPr lang="en-US" sz="2121" b="1" dirty="0">
                <a:solidFill>
                  <a:srgbClr val="1A202C"/>
                </a:solidFill>
              </a:rPr>
              <a:t>Standardization Application on Aurora PostgreSQL Multi-region</a:t>
            </a:r>
            <a:endParaRPr lang="en-US" sz="2121" dirty="0"/>
          </a:p>
        </p:txBody>
      </p:sp>
      <p:sp>
        <p:nvSpPr>
          <p:cNvPr id="5" name="Text 1"/>
          <p:cNvSpPr/>
          <p:nvPr/>
        </p:nvSpPr>
        <p:spPr>
          <a:xfrm>
            <a:off x="1357313" y="1067991"/>
            <a:ext cx="6429375" cy="194667"/>
          </a:xfrm>
          <a:prstGeom prst="rect">
            <a:avLst/>
          </a:prstGeom>
          <a:noFill/>
          <a:ln/>
        </p:spPr>
        <p:txBody>
          <a:bodyPr wrap="none" lIns="0" tIns="0" rIns="0" bIns="0" rtlCol="0" anchor="t">
            <a:spAutoFit/>
          </a:bodyPr>
          <a:lstStyle/>
          <a:p>
            <a:pPr algn="ctr" indent="0" marL="0">
              <a:lnSpc>
                <a:spcPts val="1400"/>
              </a:lnSpc>
              <a:buNone/>
            </a:pPr>
            <a:r>
              <a:rPr lang="en-US" sz="1050" dirty="0">
                <a:solidFill>
                  <a:srgbClr val="4A5568"/>
                </a:solidFill>
              </a:rPr>
              <a:t>Modern database applications across the mykiteapp on Aurora PostgreSQL Multi-region</a:t>
            </a:r>
            <a:endParaRPr lang="en-US" sz="1050" dirty="0"/>
          </a:p>
        </p:txBody>
      </p:sp>
      <p:sp>
        <p:nvSpPr>
          <p:cNvPr id="6" name="Text 2"/>
          <p:cNvSpPr/>
          <p:nvPr/>
        </p:nvSpPr>
        <p:spPr>
          <a:xfrm>
            <a:off x="1351173" y="1607344"/>
            <a:ext cx="1155250" cy="291108"/>
          </a:xfrm>
          <a:prstGeom prst="rect">
            <a:avLst/>
          </a:prstGeom>
          <a:noFill/>
          <a:ln/>
        </p:spPr>
        <p:txBody>
          <a:bodyPr wrap="none" lIns="0" tIns="0" rIns="0" bIns="42545" rtlCol="0" anchor="t">
            <a:spAutoFit/>
          </a:bodyPr>
          <a:lstStyle/>
          <a:p>
            <a:pPr algn="l" indent="0" marL="0">
              <a:lnSpc>
                <a:spcPts val="1600"/>
              </a:lnSpc>
              <a:buNone/>
            </a:pPr>
            <a:r>
              <a:rPr lang="en-US" sz="1193" b="1" dirty="0">
                <a:solidFill>
                  <a:srgbClr val="2D3748"/>
                </a:solidFill>
              </a:rPr>
              <a:t>Current State</a:t>
            </a:r>
            <a:endParaRPr lang="en-US" sz="1193" dirty="0"/>
          </a:p>
        </p:txBody>
      </p:sp>
      <p:sp>
        <p:nvSpPr>
          <p:cNvPr id="7" name="Shape 3"/>
          <p:cNvSpPr/>
          <p:nvPr/>
        </p:nvSpPr>
        <p:spPr>
          <a:xfrm>
            <a:off x="660797" y="1984177"/>
            <a:ext cx="285750" cy="285750"/>
          </a:xfrm>
          <a:prstGeom prst="rect">
            <a:avLst/>
          </a:prstGeom>
          <a:solidFill>
            <a:srgbClr val="EDF2F7"/>
          </a:solidFill>
          <a:ln/>
        </p:spPr>
      </p:sp>
      <p:pic>
        <p:nvPicPr>
          <p:cNvPr id="8" name="Image 1" descr="preencoded.png">    </p:cNvPr>
          <p:cNvPicPr>
            <a:picLocks noChangeAspect="1"/>
          </p:cNvPicPr>
          <p:nvPr/>
        </p:nvPicPr>
        <p:blipFill>
          <a:blip r:embed="rId2"/>
          <a:stretch>
            <a:fillRect/>
          </a:stretch>
        </p:blipFill>
        <p:spPr>
          <a:xfrm>
            <a:off x="732234" y="2055614"/>
            <a:ext cx="142875" cy="142875"/>
          </a:xfrm>
          <a:prstGeom prst="rect">
            <a:avLst/>
          </a:prstGeom>
        </p:spPr>
      </p:pic>
      <p:sp>
        <p:nvSpPr>
          <p:cNvPr id="9" name="Text 4"/>
          <p:cNvSpPr/>
          <p:nvPr/>
        </p:nvSpPr>
        <p:spPr>
          <a:xfrm>
            <a:off x="649244" y="2305645"/>
            <a:ext cx="308828"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Web App</a:t>
            </a:r>
            <a:endParaRPr lang="en-US" sz="485" dirty="0"/>
          </a:p>
        </p:txBody>
      </p:sp>
      <p:sp>
        <p:nvSpPr>
          <p:cNvPr id="10" name="Shape 5"/>
          <p:cNvSpPr/>
          <p:nvPr/>
        </p:nvSpPr>
        <p:spPr>
          <a:xfrm>
            <a:off x="1410891" y="1984177"/>
            <a:ext cx="285750" cy="285750"/>
          </a:xfrm>
          <a:prstGeom prst="rect">
            <a:avLst/>
          </a:prstGeom>
          <a:solidFill>
            <a:srgbClr val="EDF2F7"/>
          </a:solidFill>
          <a:ln/>
        </p:spPr>
      </p:sp>
      <p:pic>
        <p:nvPicPr>
          <p:cNvPr id="11" name="Image 2" descr="preencoded.png">    </p:cNvPr>
          <p:cNvPicPr>
            <a:picLocks noChangeAspect="1"/>
          </p:cNvPicPr>
          <p:nvPr/>
        </p:nvPicPr>
        <p:blipFill>
          <a:blip r:embed="rId3"/>
          <a:stretch>
            <a:fillRect/>
          </a:stretch>
        </p:blipFill>
        <p:spPr>
          <a:xfrm>
            <a:off x="1500188" y="2055614"/>
            <a:ext cx="107156" cy="142875"/>
          </a:xfrm>
          <a:prstGeom prst="rect">
            <a:avLst/>
          </a:prstGeom>
        </p:spPr>
      </p:pic>
      <p:sp>
        <p:nvSpPr>
          <p:cNvPr id="12" name="Text 6"/>
          <p:cNvSpPr/>
          <p:nvPr/>
        </p:nvSpPr>
        <p:spPr>
          <a:xfrm>
            <a:off x="1357061" y="2305645"/>
            <a:ext cx="393409"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Mobile App</a:t>
            </a:r>
            <a:endParaRPr lang="en-US" sz="485" dirty="0"/>
          </a:p>
        </p:txBody>
      </p:sp>
      <p:sp>
        <p:nvSpPr>
          <p:cNvPr id="13" name="Shape 7"/>
          <p:cNvSpPr/>
          <p:nvPr/>
        </p:nvSpPr>
        <p:spPr>
          <a:xfrm>
            <a:off x="2160984" y="1984177"/>
            <a:ext cx="285750" cy="285750"/>
          </a:xfrm>
          <a:prstGeom prst="rect">
            <a:avLst/>
          </a:prstGeom>
          <a:solidFill>
            <a:srgbClr val="EDF2F7"/>
          </a:solidFill>
          <a:ln/>
        </p:spPr>
      </p:sp>
      <p:pic>
        <p:nvPicPr>
          <p:cNvPr id="14" name="Image 3" descr="preencoded.png">    </p:cNvPr>
          <p:cNvPicPr>
            <a:picLocks noChangeAspect="1"/>
          </p:cNvPicPr>
          <p:nvPr/>
        </p:nvPicPr>
        <p:blipFill>
          <a:blip r:embed="rId4"/>
          <a:stretch>
            <a:fillRect/>
          </a:stretch>
        </p:blipFill>
        <p:spPr>
          <a:xfrm>
            <a:off x="2214563" y="2055614"/>
            <a:ext cx="178594" cy="142875"/>
          </a:xfrm>
          <a:prstGeom prst="rect">
            <a:avLst/>
          </a:prstGeom>
        </p:spPr>
      </p:pic>
      <p:sp>
        <p:nvSpPr>
          <p:cNvPr id="15" name="Text 8"/>
          <p:cNvSpPr/>
          <p:nvPr/>
        </p:nvSpPr>
        <p:spPr>
          <a:xfrm>
            <a:off x="2103081" y="2305645"/>
            <a:ext cx="401557"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ERP System</a:t>
            </a:r>
            <a:endParaRPr lang="en-US" sz="485" dirty="0"/>
          </a:p>
        </p:txBody>
      </p:sp>
      <p:sp>
        <p:nvSpPr>
          <p:cNvPr id="16" name="Shape 9"/>
          <p:cNvSpPr/>
          <p:nvPr/>
        </p:nvSpPr>
        <p:spPr>
          <a:xfrm>
            <a:off x="2911078" y="1984177"/>
            <a:ext cx="285750" cy="285750"/>
          </a:xfrm>
          <a:prstGeom prst="rect">
            <a:avLst/>
          </a:prstGeom>
          <a:solidFill>
            <a:srgbClr val="EDF2F7"/>
          </a:solidFill>
          <a:ln/>
        </p:spPr>
      </p:sp>
      <p:pic>
        <p:nvPicPr>
          <p:cNvPr id="17" name="Image 4" descr="preencoded.png">    </p:cNvPr>
          <p:cNvPicPr>
            <a:picLocks noChangeAspect="1"/>
          </p:cNvPicPr>
          <p:nvPr/>
        </p:nvPicPr>
        <p:blipFill>
          <a:blip r:embed="rId5"/>
          <a:stretch>
            <a:fillRect/>
          </a:stretch>
        </p:blipFill>
        <p:spPr>
          <a:xfrm>
            <a:off x="2982516" y="2055614"/>
            <a:ext cx="142875" cy="142875"/>
          </a:xfrm>
          <a:prstGeom prst="rect">
            <a:avLst/>
          </a:prstGeom>
        </p:spPr>
      </p:pic>
      <p:sp>
        <p:nvSpPr>
          <p:cNvPr id="18" name="Text 10"/>
          <p:cNvSpPr/>
          <p:nvPr/>
        </p:nvSpPr>
        <p:spPr>
          <a:xfrm>
            <a:off x="2896093" y="2305645"/>
            <a:ext cx="315692"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Analytics</a:t>
            </a:r>
            <a:endParaRPr lang="en-US" sz="485" dirty="0"/>
          </a:p>
        </p:txBody>
      </p:sp>
      <p:pic>
        <p:nvPicPr>
          <p:cNvPr id="19" name="Image 5" descr="preencoded.png">    </p:cNvPr>
          <p:cNvPicPr>
            <a:picLocks noChangeAspect="1"/>
          </p:cNvPicPr>
          <p:nvPr/>
        </p:nvPicPr>
        <p:blipFill>
          <a:blip r:embed="rId6"/>
          <a:stretch>
            <a:fillRect/>
          </a:stretch>
        </p:blipFill>
        <p:spPr>
          <a:xfrm>
            <a:off x="535781" y="2477095"/>
            <a:ext cx="285750" cy="285750"/>
          </a:xfrm>
          <a:prstGeom prst="rect">
            <a:avLst/>
          </a:prstGeom>
        </p:spPr>
      </p:pic>
      <p:sp>
        <p:nvSpPr>
          <p:cNvPr id="20" name="Text 11"/>
          <p:cNvSpPr/>
          <p:nvPr/>
        </p:nvSpPr>
        <p:spPr>
          <a:xfrm>
            <a:off x="501541" y="2798564"/>
            <a:ext cx="354202"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Aurora PG</a:t>
            </a:r>
            <a:endParaRPr lang="en-US" sz="485" dirty="0"/>
          </a:p>
        </p:txBody>
      </p:sp>
      <p:pic>
        <p:nvPicPr>
          <p:cNvPr id="21" name="Image 6" descr="preencoded.png">    </p:cNvPr>
          <p:cNvPicPr>
            <a:picLocks noChangeAspect="1"/>
          </p:cNvPicPr>
          <p:nvPr/>
        </p:nvPicPr>
        <p:blipFill>
          <a:blip r:embed="rId7"/>
          <a:stretch>
            <a:fillRect/>
          </a:stretch>
        </p:blipFill>
        <p:spPr>
          <a:xfrm>
            <a:off x="1559709" y="2477095"/>
            <a:ext cx="285750" cy="285750"/>
          </a:xfrm>
          <a:prstGeom prst="rect">
            <a:avLst/>
          </a:prstGeom>
        </p:spPr>
      </p:pic>
      <p:sp>
        <p:nvSpPr>
          <p:cNvPr id="22" name="Text 12"/>
          <p:cNvSpPr/>
          <p:nvPr/>
        </p:nvSpPr>
        <p:spPr>
          <a:xfrm>
            <a:off x="1453279" y="2798564"/>
            <a:ext cx="498584"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Aurora MySQL</a:t>
            </a:r>
            <a:endParaRPr lang="en-US" sz="485" dirty="0"/>
          </a:p>
        </p:txBody>
      </p:sp>
      <p:pic>
        <p:nvPicPr>
          <p:cNvPr id="23" name="Image 7" descr="preencoded.png">    </p:cNvPr>
          <p:cNvPicPr>
            <a:picLocks noChangeAspect="1"/>
          </p:cNvPicPr>
          <p:nvPr/>
        </p:nvPicPr>
        <p:blipFill>
          <a:blip r:embed="rId8"/>
          <a:stretch>
            <a:fillRect/>
          </a:stretch>
        </p:blipFill>
        <p:spPr>
          <a:xfrm>
            <a:off x="2583638" y="2477095"/>
            <a:ext cx="285750" cy="285750"/>
          </a:xfrm>
          <a:prstGeom prst="rect">
            <a:avLst/>
          </a:prstGeom>
        </p:spPr>
      </p:pic>
      <p:sp>
        <p:nvSpPr>
          <p:cNvPr id="24" name="Text 13"/>
          <p:cNvSpPr/>
          <p:nvPr/>
        </p:nvSpPr>
        <p:spPr>
          <a:xfrm>
            <a:off x="2476481" y="2798564"/>
            <a:ext cx="500063" cy="171450"/>
          </a:xfrm>
          <a:prstGeom prst="rect">
            <a:avLst/>
          </a:prstGeom>
          <a:noFill/>
          <a:ln/>
        </p:spPr>
        <p:txBody>
          <a:bodyPr wrap="square" lIns="0" tIns="0" rIns="0" bIns="0" rtlCol="0" anchor="t">
            <a:spAutoFit/>
          </a:bodyPr>
          <a:lstStyle/>
          <a:p>
            <a:pPr algn="ctr" indent="0" marL="0">
              <a:lnSpc>
                <a:spcPts val="700"/>
              </a:lnSpc>
              <a:buNone/>
            </a:pPr>
            <a:r>
              <a:rPr lang="en-US" sz="485" b="1" dirty="0">
                <a:solidFill>
                  <a:srgbClr val="1A202C"/>
                </a:solidFill>
              </a:rPr>
              <a:t>RDS SQL Server</a:t>
            </a:r>
            <a:endParaRPr lang="en-US" sz="485" dirty="0"/>
          </a:p>
        </p:txBody>
      </p:sp>
      <p:pic>
        <p:nvPicPr>
          <p:cNvPr id="25" name="Image 8" descr="preencoded.png">    </p:cNvPr>
          <p:cNvPicPr>
            <a:picLocks noChangeAspect="1"/>
          </p:cNvPicPr>
          <p:nvPr/>
        </p:nvPicPr>
        <p:blipFill>
          <a:blip r:embed="rId9"/>
          <a:stretch>
            <a:fillRect/>
          </a:stretch>
        </p:blipFill>
        <p:spPr>
          <a:xfrm>
            <a:off x="535781" y="3041452"/>
            <a:ext cx="285750" cy="285750"/>
          </a:xfrm>
          <a:prstGeom prst="rect">
            <a:avLst/>
          </a:prstGeom>
        </p:spPr>
      </p:pic>
      <p:sp>
        <p:nvSpPr>
          <p:cNvPr id="26" name="Text 14"/>
          <p:cNvSpPr/>
          <p:nvPr/>
        </p:nvSpPr>
        <p:spPr>
          <a:xfrm>
            <a:off x="487254" y="3362920"/>
            <a:ext cx="382777"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RDS Oracle</a:t>
            </a:r>
            <a:endParaRPr lang="en-US" sz="485" dirty="0"/>
          </a:p>
        </p:txBody>
      </p:sp>
      <p:pic>
        <p:nvPicPr>
          <p:cNvPr id="27" name="Image 9" descr="preencoded.png">    </p:cNvPr>
          <p:cNvPicPr>
            <a:picLocks noChangeAspect="1"/>
          </p:cNvPicPr>
          <p:nvPr/>
        </p:nvPicPr>
        <p:blipFill>
          <a:blip r:embed="rId10"/>
          <a:stretch>
            <a:fillRect/>
          </a:stretch>
        </p:blipFill>
        <p:spPr>
          <a:xfrm>
            <a:off x="1559709" y="3041452"/>
            <a:ext cx="285750" cy="285750"/>
          </a:xfrm>
          <a:prstGeom prst="rect">
            <a:avLst/>
          </a:prstGeom>
        </p:spPr>
      </p:pic>
      <p:sp>
        <p:nvSpPr>
          <p:cNvPr id="28" name="Text 15"/>
          <p:cNvSpPr/>
          <p:nvPr/>
        </p:nvSpPr>
        <p:spPr>
          <a:xfrm>
            <a:off x="1452553" y="3362920"/>
            <a:ext cx="500063" cy="171450"/>
          </a:xfrm>
          <a:prstGeom prst="rect">
            <a:avLst/>
          </a:prstGeom>
          <a:noFill/>
          <a:ln/>
        </p:spPr>
        <p:txBody>
          <a:bodyPr wrap="square" lIns="0" tIns="0" rIns="0" bIns="0" rtlCol="0" anchor="t">
            <a:spAutoFit/>
          </a:bodyPr>
          <a:lstStyle/>
          <a:p>
            <a:pPr algn="ctr" indent="0" marL="0">
              <a:lnSpc>
                <a:spcPts val="700"/>
              </a:lnSpc>
              <a:buNone/>
            </a:pPr>
            <a:r>
              <a:rPr lang="en-US" sz="485" b="1" dirty="0">
                <a:solidFill>
                  <a:srgbClr val="1A202C"/>
                </a:solidFill>
              </a:rPr>
              <a:t>On-Prem Oracle</a:t>
            </a:r>
            <a:endParaRPr lang="en-US" sz="485" dirty="0"/>
          </a:p>
        </p:txBody>
      </p:sp>
      <p:pic>
        <p:nvPicPr>
          <p:cNvPr id="29" name="Image 10" descr="preencoded.png">    </p:cNvPr>
          <p:cNvPicPr>
            <a:picLocks noChangeAspect="1"/>
          </p:cNvPicPr>
          <p:nvPr/>
        </p:nvPicPr>
        <p:blipFill>
          <a:blip r:embed="rId11"/>
          <a:stretch>
            <a:fillRect/>
          </a:stretch>
        </p:blipFill>
        <p:spPr>
          <a:xfrm>
            <a:off x="2583638" y="3041452"/>
            <a:ext cx="285750" cy="285750"/>
          </a:xfrm>
          <a:prstGeom prst="rect">
            <a:avLst/>
          </a:prstGeom>
        </p:spPr>
      </p:pic>
      <p:sp>
        <p:nvSpPr>
          <p:cNvPr id="30" name="Text 16"/>
          <p:cNvSpPr/>
          <p:nvPr/>
        </p:nvSpPr>
        <p:spPr>
          <a:xfrm>
            <a:off x="2476481" y="3362920"/>
            <a:ext cx="500063" cy="171450"/>
          </a:xfrm>
          <a:prstGeom prst="rect">
            <a:avLst/>
          </a:prstGeom>
          <a:noFill/>
          <a:ln/>
        </p:spPr>
        <p:txBody>
          <a:bodyPr wrap="square" lIns="0" tIns="0" rIns="0" bIns="0" rtlCol="0" anchor="t">
            <a:spAutoFit/>
          </a:bodyPr>
          <a:lstStyle/>
          <a:p>
            <a:pPr algn="ctr" indent="0" marL="0">
              <a:lnSpc>
                <a:spcPts val="700"/>
              </a:lnSpc>
              <a:buNone/>
            </a:pPr>
            <a:r>
              <a:rPr lang="en-US" sz="485" b="1" dirty="0">
                <a:solidFill>
                  <a:srgbClr val="1A202C"/>
                </a:solidFill>
              </a:rPr>
              <a:t>On-Prem Server</a:t>
            </a:r>
            <a:endParaRPr lang="en-US" sz="485" dirty="0"/>
          </a:p>
        </p:txBody>
      </p:sp>
      <p:sp>
        <p:nvSpPr>
          <p:cNvPr id="31" name="Text 17"/>
          <p:cNvSpPr/>
          <p:nvPr/>
        </p:nvSpPr>
        <p:spPr>
          <a:xfrm>
            <a:off x="4195056" y="2712839"/>
            <a:ext cx="753889" cy="116086"/>
          </a:xfrm>
          <a:prstGeom prst="rect">
            <a:avLst/>
          </a:prstGeom>
          <a:noFill/>
          <a:ln/>
        </p:spPr>
        <p:txBody>
          <a:bodyPr wrap="none" lIns="0" tIns="0" rIns="0" bIns="0" rtlCol="0" anchor="t">
            <a:spAutoFit/>
          </a:bodyPr>
          <a:lstStyle/>
          <a:p>
            <a:pPr algn="ctr" indent="0" marL="0">
              <a:lnSpc>
                <a:spcPts val="800"/>
              </a:lnSpc>
              <a:buNone/>
            </a:pPr>
            <a:r>
              <a:rPr lang="en-US" sz="584" b="1" dirty="0">
                <a:solidFill>
                  <a:srgbClr val="3182CE"/>
                </a:solidFill>
              </a:rPr>
              <a:t>MODERNIZATION</a:t>
            </a:r>
            <a:endParaRPr lang="en-US" sz="584" dirty="0"/>
          </a:p>
        </p:txBody>
      </p:sp>
      <p:sp>
        <p:nvSpPr>
          <p:cNvPr id="32" name="Text 18"/>
          <p:cNvSpPr/>
          <p:nvPr/>
        </p:nvSpPr>
        <p:spPr>
          <a:xfrm>
            <a:off x="6694057" y="1471613"/>
            <a:ext cx="1042262" cy="291108"/>
          </a:xfrm>
          <a:prstGeom prst="rect">
            <a:avLst/>
          </a:prstGeom>
          <a:noFill/>
          <a:ln/>
        </p:spPr>
        <p:txBody>
          <a:bodyPr wrap="none" lIns="0" tIns="0" rIns="0" bIns="42545" rtlCol="0" anchor="t">
            <a:spAutoFit/>
          </a:bodyPr>
          <a:lstStyle/>
          <a:p>
            <a:pPr algn="l" indent="0" marL="0">
              <a:lnSpc>
                <a:spcPts val="1600"/>
              </a:lnSpc>
              <a:buNone/>
            </a:pPr>
            <a:r>
              <a:rPr lang="en-US" sz="1193" b="1" dirty="0">
                <a:solidFill>
                  <a:srgbClr val="2D3748"/>
                </a:solidFill>
              </a:rPr>
              <a:t>Target State</a:t>
            </a:r>
            <a:endParaRPr lang="en-US" sz="1193" dirty="0"/>
          </a:p>
        </p:txBody>
      </p:sp>
      <p:sp>
        <p:nvSpPr>
          <p:cNvPr id="33" name="Shape 19"/>
          <p:cNvSpPr/>
          <p:nvPr/>
        </p:nvSpPr>
        <p:spPr>
          <a:xfrm>
            <a:off x="5715000" y="1848445"/>
            <a:ext cx="3000375" cy="800100"/>
          </a:xfrm>
          <a:prstGeom prst="rect">
            <a:avLst/>
          </a:prstGeom>
          <a:solidFill>
            <a:srgbClr val="EBF8FF"/>
          </a:solidFill>
          <a:ln w="18288">
            <a:solidFill>
              <a:srgbClr val="3182CE"/>
            </a:solidFill>
            <a:prstDash val="solid"/>
          </a:ln>
        </p:spPr>
      </p:sp>
      <p:sp>
        <p:nvSpPr>
          <p:cNvPr id="34" name="Text 20"/>
          <p:cNvSpPr/>
          <p:nvPr/>
        </p:nvSpPr>
        <p:spPr>
          <a:xfrm>
            <a:off x="6689313" y="1948458"/>
            <a:ext cx="105175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2B6CB0"/>
                </a:solidFill>
              </a:rPr>
              <a:t>Common App Stack</a:t>
            </a:r>
            <a:endParaRPr lang="en-US" sz="683" dirty="0"/>
          </a:p>
        </p:txBody>
      </p:sp>
      <p:sp>
        <p:nvSpPr>
          <p:cNvPr id="35" name="Shape 21"/>
          <p:cNvSpPr/>
          <p:nvPr/>
        </p:nvSpPr>
        <p:spPr>
          <a:xfrm>
            <a:off x="6011466" y="2141339"/>
            <a:ext cx="285750" cy="285750"/>
          </a:xfrm>
          <a:prstGeom prst="rect">
            <a:avLst/>
          </a:prstGeom>
          <a:solidFill>
            <a:srgbClr val="FFFFFF"/>
          </a:solidFill>
          <a:ln/>
        </p:spPr>
      </p:sp>
      <p:pic>
        <p:nvPicPr>
          <p:cNvPr id="36" name="Image 11" descr="preencoded.png">    </p:cNvPr>
          <p:cNvPicPr>
            <a:picLocks noChangeAspect="1"/>
          </p:cNvPicPr>
          <p:nvPr/>
        </p:nvPicPr>
        <p:blipFill>
          <a:blip r:embed="rId12"/>
          <a:stretch>
            <a:fillRect/>
          </a:stretch>
        </p:blipFill>
        <p:spPr>
          <a:xfrm>
            <a:off x="6082903" y="2212777"/>
            <a:ext cx="142875" cy="142875"/>
          </a:xfrm>
          <a:prstGeom prst="rect">
            <a:avLst/>
          </a:prstGeom>
        </p:spPr>
      </p:pic>
      <p:sp>
        <p:nvSpPr>
          <p:cNvPr id="37" name="Text 22"/>
          <p:cNvSpPr/>
          <p:nvPr/>
        </p:nvSpPr>
        <p:spPr>
          <a:xfrm>
            <a:off x="6077880" y="2462808"/>
            <a:ext cx="152893"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Web</a:t>
            </a:r>
            <a:endParaRPr lang="en-US" sz="485" dirty="0"/>
          </a:p>
        </p:txBody>
      </p:sp>
      <p:sp>
        <p:nvSpPr>
          <p:cNvPr id="38" name="Shape 23"/>
          <p:cNvSpPr/>
          <p:nvPr/>
        </p:nvSpPr>
        <p:spPr>
          <a:xfrm>
            <a:off x="6718697" y="2141339"/>
            <a:ext cx="285750" cy="285750"/>
          </a:xfrm>
          <a:prstGeom prst="rect">
            <a:avLst/>
          </a:prstGeom>
          <a:solidFill>
            <a:srgbClr val="FFFFFF"/>
          </a:solidFill>
          <a:ln/>
        </p:spPr>
      </p:sp>
      <p:pic>
        <p:nvPicPr>
          <p:cNvPr id="39" name="Image 12" descr="preencoded.png">    </p:cNvPr>
          <p:cNvPicPr>
            <a:picLocks noChangeAspect="1"/>
          </p:cNvPicPr>
          <p:nvPr/>
        </p:nvPicPr>
        <p:blipFill>
          <a:blip r:embed="rId13"/>
          <a:stretch>
            <a:fillRect/>
          </a:stretch>
        </p:blipFill>
        <p:spPr>
          <a:xfrm>
            <a:off x="6807994" y="2212777"/>
            <a:ext cx="107156" cy="142875"/>
          </a:xfrm>
          <a:prstGeom prst="rect">
            <a:avLst/>
          </a:prstGeom>
        </p:spPr>
      </p:pic>
      <p:sp>
        <p:nvSpPr>
          <p:cNvPr id="40" name="Text 24"/>
          <p:cNvSpPr/>
          <p:nvPr/>
        </p:nvSpPr>
        <p:spPr>
          <a:xfrm>
            <a:off x="6742835" y="2462808"/>
            <a:ext cx="237474"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Mobile</a:t>
            </a:r>
            <a:endParaRPr lang="en-US" sz="485" dirty="0"/>
          </a:p>
        </p:txBody>
      </p:sp>
      <p:sp>
        <p:nvSpPr>
          <p:cNvPr id="41" name="Shape 25"/>
          <p:cNvSpPr/>
          <p:nvPr/>
        </p:nvSpPr>
        <p:spPr>
          <a:xfrm>
            <a:off x="7425928" y="2141339"/>
            <a:ext cx="285750" cy="285750"/>
          </a:xfrm>
          <a:prstGeom prst="rect">
            <a:avLst/>
          </a:prstGeom>
          <a:solidFill>
            <a:srgbClr val="FFFFFF"/>
          </a:solidFill>
          <a:ln/>
        </p:spPr>
      </p:sp>
      <p:pic>
        <p:nvPicPr>
          <p:cNvPr id="42" name="Image 13" descr="preencoded.png">    </p:cNvPr>
          <p:cNvPicPr>
            <a:picLocks noChangeAspect="1"/>
          </p:cNvPicPr>
          <p:nvPr/>
        </p:nvPicPr>
        <p:blipFill>
          <a:blip r:embed="rId14"/>
          <a:stretch>
            <a:fillRect/>
          </a:stretch>
        </p:blipFill>
        <p:spPr>
          <a:xfrm>
            <a:off x="7479506" y="2212777"/>
            <a:ext cx="178594" cy="142875"/>
          </a:xfrm>
          <a:prstGeom prst="rect">
            <a:avLst/>
          </a:prstGeom>
        </p:spPr>
      </p:pic>
      <p:sp>
        <p:nvSpPr>
          <p:cNvPr id="43" name="Text 26"/>
          <p:cNvSpPr/>
          <p:nvPr/>
        </p:nvSpPr>
        <p:spPr>
          <a:xfrm>
            <a:off x="7509504" y="2462808"/>
            <a:ext cx="118597"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API</a:t>
            </a:r>
            <a:endParaRPr lang="en-US" sz="485" dirty="0"/>
          </a:p>
        </p:txBody>
      </p:sp>
      <p:sp>
        <p:nvSpPr>
          <p:cNvPr id="44" name="Shape 27"/>
          <p:cNvSpPr/>
          <p:nvPr/>
        </p:nvSpPr>
        <p:spPr>
          <a:xfrm>
            <a:off x="8133159" y="2141339"/>
            <a:ext cx="285750" cy="285750"/>
          </a:xfrm>
          <a:prstGeom prst="rect">
            <a:avLst/>
          </a:prstGeom>
          <a:solidFill>
            <a:srgbClr val="FFFFFF"/>
          </a:solidFill>
          <a:ln/>
        </p:spPr>
      </p:sp>
      <p:pic>
        <p:nvPicPr>
          <p:cNvPr id="45" name="Image 14" descr="preencoded.png">    </p:cNvPr>
          <p:cNvPicPr>
            <a:picLocks noChangeAspect="1"/>
          </p:cNvPicPr>
          <p:nvPr/>
        </p:nvPicPr>
        <p:blipFill>
          <a:blip r:embed="rId15"/>
          <a:stretch>
            <a:fillRect/>
          </a:stretch>
        </p:blipFill>
        <p:spPr>
          <a:xfrm>
            <a:off x="8204597" y="2212777"/>
            <a:ext cx="142875" cy="142875"/>
          </a:xfrm>
          <a:prstGeom prst="rect">
            <a:avLst/>
          </a:prstGeom>
        </p:spPr>
      </p:pic>
      <p:sp>
        <p:nvSpPr>
          <p:cNvPr id="46" name="Text 28"/>
          <p:cNvSpPr/>
          <p:nvPr/>
        </p:nvSpPr>
        <p:spPr>
          <a:xfrm>
            <a:off x="8118174" y="2462808"/>
            <a:ext cx="315692"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Analytics</a:t>
            </a:r>
            <a:endParaRPr lang="en-US" sz="485" dirty="0"/>
          </a:p>
        </p:txBody>
      </p:sp>
      <p:sp>
        <p:nvSpPr>
          <p:cNvPr id="47" name="Shape 29"/>
          <p:cNvSpPr/>
          <p:nvPr/>
        </p:nvSpPr>
        <p:spPr>
          <a:xfrm>
            <a:off x="5715000" y="2719983"/>
            <a:ext cx="3000375" cy="935803"/>
          </a:xfrm>
          <a:prstGeom prst="rect">
            <a:avLst/>
          </a:prstGeom>
          <a:solidFill>
            <a:srgbClr val="F7FAFC"/>
          </a:solidFill>
          <a:ln w="18288">
            <a:solidFill>
              <a:srgbClr val="CBD5E0"/>
            </a:solidFill>
            <a:prstDash val="dash"/>
          </a:ln>
        </p:spPr>
      </p:sp>
      <p:pic>
        <p:nvPicPr>
          <p:cNvPr id="48" name="Image 15" descr="preencoded.png">    </p:cNvPr>
          <p:cNvPicPr>
            <a:picLocks noChangeAspect="1"/>
          </p:cNvPicPr>
          <p:nvPr/>
        </p:nvPicPr>
        <p:blipFill>
          <a:blip r:embed="rId16"/>
          <a:stretch>
            <a:fillRect/>
          </a:stretch>
        </p:blipFill>
        <p:spPr>
          <a:xfrm>
            <a:off x="7000875" y="2848570"/>
            <a:ext cx="428625" cy="428625"/>
          </a:xfrm>
          <a:prstGeom prst="rect">
            <a:avLst/>
          </a:prstGeom>
        </p:spPr>
      </p:pic>
      <p:sp>
        <p:nvSpPr>
          <p:cNvPr id="49" name="Text 30"/>
          <p:cNvSpPr/>
          <p:nvPr/>
        </p:nvSpPr>
        <p:spPr>
          <a:xfrm>
            <a:off x="6752211" y="3312914"/>
            <a:ext cx="925925" cy="119993"/>
          </a:xfrm>
          <a:prstGeom prst="rect">
            <a:avLst/>
          </a:prstGeom>
          <a:noFill/>
          <a:ln/>
        </p:spPr>
        <p:txBody>
          <a:bodyPr wrap="none" lIns="0" tIns="0" rIns="0" bIns="0" rtlCol="0" anchor="t">
            <a:spAutoFit/>
          </a:bodyPr>
          <a:lstStyle/>
          <a:p>
            <a:pPr algn="ctr" indent="0" marL="0">
              <a:lnSpc>
                <a:spcPts val="900"/>
              </a:lnSpc>
              <a:buNone/>
            </a:pPr>
            <a:r>
              <a:rPr lang="en-US" sz="683" b="1" dirty="0">
                <a:solidFill>
                  <a:srgbClr val="3182CE"/>
                </a:solidFill>
              </a:rPr>
              <a:t>Aurora PostgreSQL</a:t>
            </a:r>
            <a:endParaRPr lang="en-US" sz="683" dirty="0"/>
          </a:p>
        </p:txBody>
      </p:sp>
      <p:sp>
        <p:nvSpPr>
          <p:cNvPr id="50" name="Text 31"/>
          <p:cNvSpPr/>
          <p:nvPr/>
        </p:nvSpPr>
        <p:spPr>
          <a:xfrm>
            <a:off x="6821918" y="3432907"/>
            <a:ext cx="786538" cy="94292"/>
          </a:xfrm>
          <a:prstGeom prst="rect">
            <a:avLst/>
          </a:prstGeom>
          <a:noFill/>
          <a:ln/>
        </p:spPr>
        <p:txBody>
          <a:bodyPr wrap="none" lIns="0" tIns="0" rIns="0" bIns="0" rtlCol="0" anchor="t">
            <a:spAutoFit/>
          </a:bodyPr>
          <a:lstStyle/>
          <a:p>
            <a:pPr algn="ctr" indent="0" marL="0">
              <a:lnSpc>
                <a:spcPts val="700"/>
              </a:lnSpc>
              <a:buNone/>
            </a:pPr>
            <a:r>
              <a:rPr lang="en-US" sz="534" b="1" dirty="0">
                <a:solidFill>
                  <a:srgbClr val="718096"/>
                </a:solidFill>
              </a:rPr>
              <a:t>Multi-Region Cluster</a:t>
            </a:r>
            <a:endParaRPr lang="en-US" sz="534" dirty="0"/>
          </a:p>
        </p:txBody>
      </p:sp>
      <p:sp>
        <p:nvSpPr>
          <p:cNvPr id="51" name="Shape 32"/>
          <p:cNvSpPr/>
          <p:nvPr/>
        </p:nvSpPr>
        <p:spPr>
          <a:xfrm>
            <a:off x="428625" y="3879056"/>
            <a:ext cx="5164429" cy="1178719"/>
          </a:xfrm>
          <a:prstGeom prst="rect">
            <a:avLst/>
          </a:prstGeom>
          <a:solidFill>
            <a:srgbClr val="F8F9FA"/>
          </a:solidFill>
          <a:ln/>
        </p:spPr>
      </p:sp>
      <p:sp>
        <p:nvSpPr>
          <p:cNvPr id="52" name="Shape 33"/>
          <p:cNvSpPr/>
          <p:nvPr/>
        </p:nvSpPr>
        <p:spPr>
          <a:xfrm>
            <a:off x="428625" y="3879056"/>
            <a:ext cx="35719" cy="1178719"/>
          </a:xfrm>
          <a:prstGeom prst="rect">
            <a:avLst/>
          </a:prstGeom>
          <a:solidFill>
            <a:srgbClr val="3182CE"/>
          </a:solidFill>
          <a:ln/>
        </p:spPr>
      </p:sp>
      <p:sp>
        <p:nvSpPr>
          <p:cNvPr id="53" name="Text 34"/>
          <p:cNvSpPr/>
          <p:nvPr/>
        </p:nvSpPr>
        <p:spPr>
          <a:xfrm>
            <a:off x="542925" y="3950494"/>
            <a:ext cx="4923076"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182CE"/>
                </a:solidFill>
              </a:rPr>
              <a:t>Strategic Enablement</a:t>
            </a:r>
            <a:endParaRPr lang="en-US" sz="885" dirty="0"/>
          </a:p>
        </p:txBody>
      </p:sp>
      <p:sp>
        <p:nvSpPr>
          <p:cNvPr id="54" name="Text 35"/>
          <p:cNvSpPr/>
          <p:nvPr/>
        </p:nvSpPr>
        <p:spPr>
          <a:xfrm>
            <a:off x="542925" y="4182666"/>
            <a:ext cx="2432949"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3182CE"/>
                </a:solidFill>
              </a:rPr>
              <a:t>Strategic Consolidation</a:t>
            </a:r>
            <a:endParaRPr lang="en-US" sz="634" dirty="0"/>
          </a:p>
        </p:txBody>
      </p:sp>
      <p:sp>
        <p:nvSpPr>
          <p:cNvPr id="55" name="Text 36"/>
          <p:cNvSpPr/>
          <p:nvPr/>
        </p:nvSpPr>
        <p:spPr>
          <a:xfrm>
            <a:off x="542925" y="4323755"/>
            <a:ext cx="2432949" cy="232172"/>
          </a:xfrm>
          <a:prstGeom prst="rect">
            <a:avLst/>
          </a:prstGeom>
          <a:noFill/>
          <a:ln/>
        </p:spPr>
        <p:txBody>
          <a:bodyPr wrap="square" lIns="0" tIns="0" rIns="0" bIns="0" rtlCol="0" anchor="t">
            <a:spAutoFit/>
          </a:bodyPr>
          <a:lstStyle/>
          <a:p>
            <a:pPr algn="l" indent="0" marL="0">
              <a:lnSpc>
                <a:spcPts val="800"/>
              </a:lnSpc>
              <a:buNone/>
            </a:pPr>
            <a:r>
              <a:rPr lang="en-US" sz="584" b="1" dirty="0">
                <a:solidFill>
                  <a:srgbClr val="2D3748"/>
                </a:solidFill>
              </a:rPr>
              <a:t>Unified database architecture driving cost and architectural efficiency.</a:t>
            </a:r>
            <a:endParaRPr lang="en-US" sz="584" dirty="0"/>
          </a:p>
        </p:txBody>
      </p:sp>
      <p:sp>
        <p:nvSpPr>
          <p:cNvPr id="56" name="Text 37"/>
          <p:cNvSpPr/>
          <p:nvPr/>
        </p:nvSpPr>
        <p:spPr>
          <a:xfrm>
            <a:off x="3033024" y="4182666"/>
            <a:ext cx="2432977"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3182CE"/>
                </a:solidFill>
              </a:rPr>
              <a:t>Operational Excellence</a:t>
            </a:r>
            <a:endParaRPr lang="en-US" sz="634" dirty="0"/>
          </a:p>
        </p:txBody>
      </p:sp>
      <p:sp>
        <p:nvSpPr>
          <p:cNvPr id="57" name="Text 38"/>
          <p:cNvSpPr/>
          <p:nvPr/>
        </p:nvSpPr>
        <p:spPr>
          <a:xfrm>
            <a:off x="3033024" y="4323755"/>
            <a:ext cx="2432977" cy="232172"/>
          </a:xfrm>
          <a:prstGeom prst="rect">
            <a:avLst/>
          </a:prstGeom>
          <a:noFill/>
          <a:ln/>
        </p:spPr>
        <p:txBody>
          <a:bodyPr wrap="square" lIns="0" tIns="0" rIns="0" bIns="0" rtlCol="0" anchor="t">
            <a:spAutoFit/>
          </a:bodyPr>
          <a:lstStyle/>
          <a:p>
            <a:pPr algn="l" indent="0" marL="0">
              <a:lnSpc>
                <a:spcPts val="800"/>
              </a:lnSpc>
              <a:buNone/>
            </a:pPr>
            <a:r>
              <a:rPr lang="en-US" sz="584" b="1" dirty="0">
                <a:solidFill>
                  <a:srgbClr val="2D3748"/>
                </a:solidFill>
              </a:rPr>
              <a:t>Standardized patterns and automated maintenance for global resilience.</a:t>
            </a:r>
            <a:endParaRPr lang="en-US" sz="584" dirty="0"/>
          </a:p>
        </p:txBody>
      </p:sp>
      <p:sp>
        <p:nvSpPr>
          <p:cNvPr id="58" name="Text 39"/>
          <p:cNvSpPr/>
          <p:nvPr/>
        </p:nvSpPr>
        <p:spPr>
          <a:xfrm>
            <a:off x="542925" y="4613077"/>
            <a:ext cx="2432949"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3182CE"/>
                </a:solidFill>
              </a:rPr>
              <a:t>Talent Optimization</a:t>
            </a:r>
            <a:endParaRPr lang="en-US" sz="634" dirty="0"/>
          </a:p>
        </p:txBody>
      </p:sp>
      <p:sp>
        <p:nvSpPr>
          <p:cNvPr id="59" name="Text 40"/>
          <p:cNvSpPr/>
          <p:nvPr/>
        </p:nvSpPr>
        <p:spPr>
          <a:xfrm>
            <a:off x="542925" y="4754166"/>
            <a:ext cx="2432949" cy="232172"/>
          </a:xfrm>
          <a:prstGeom prst="rect">
            <a:avLst/>
          </a:prstGeom>
          <a:noFill/>
          <a:ln/>
        </p:spPr>
        <p:txBody>
          <a:bodyPr wrap="square" lIns="0" tIns="0" rIns="0" bIns="0" rtlCol="0" anchor="t">
            <a:spAutoFit/>
          </a:bodyPr>
          <a:lstStyle/>
          <a:p>
            <a:pPr algn="l" indent="0" marL="0">
              <a:lnSpc>
                <a:spcPts val="800"/>
              </a:lnSpc>
              <a:buNone/>
            </a:pPr>
            <a:r>
              <a:rPr lang="en-US" sz="584" b="1" dirty="0">
                <a:solidFill>
                  <a:srgbClr val="2D3748"/>
                </a:solidFill>
              </a:rPr>
              <a:t>Closing the skill gap through a focused, high-performance technology stack.</a:t>
            </a:r>
            <a:endParaRPr lang="en-US" sz="584" dirty="0"/>
          </a:p>
        </p:txBody>
      </p:sp>
      <p:sp>
        <p:nvSpPr>
          <p:cNvPr id="60" name="Text 41"/>
          <p:cNvSpPr/>
          <p:nvPr/>
        </p:nvSpPr>
        <p:spPr>
          <a:xfrm>
            <a:off x="3033024" y="4613077"/>
            <a:ext cx="2432977"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3182CE"/>
                </a:solidFill>
              </a:rPr>
              <a:t>Agile Support</a:t>
            </a:r>
            <a:endParaRPr lang="en-US" sz="634" dirty="0"/>
          </a:p>
        </p:txBody>
      </p:sp>
      <p:sp>
        <p:nvSpPr>
          <p:cNvPr id="61" name="Text 42"/>
          <p:cNvSpPr/>
          <p:nvPr/>
        </p:nvSpPr>
        <p:spPr>
          <a:xfrm>
            <a:off x="3033024" y="4754166"/>
            <a:ext cx="2432977" cy="232172"/>
          </a:xfrm>
          <a:prstGeom prst="rect">
            <a:avLst/>
          </a:prstGeom>
          <a:noFill/>
          <a:ln/>
        </p:spPr>
        <p:txBody>
          <a:bodyPr wrap="square" lIns="0" tIns="0" rIns="0" bIns="0" rtlCol="0" anchor="t">
            <a:spAutoFit/>
          </a:bodyPr>
          <a:lstStyle/>
          <a:p>
            <a:pPr algn="l" indent="0" marL="0">
              <a:lnSpc>
                <a:spcPts val="800"/>
              </a:lnSpc>
              <a:buNone/>
            </a:pPr>
            <a:r>
              <a:rPr lang="en-US" sz="584" b="1" dirty="0">
                <a:solidFill>
                  <a:srgbClr val="2D3748"/>
                </a:solidFill>
              </a:rPr>
              <a:t>Streamlined cross-app support model to accelerate time-to-market.</a:t>
            </a:r>
            <a:endParaRPr lang="en-US" sz="584" dirty="0"/>
          </a:p>
        </p:txBody>
      </p:sp>
      <p:sp>
        <p:nvSpPr>
          <p:cNvPr id="62" name="Shape 43"/>
          <p:cNvSpPr/>
          <p:nvPr/>
        </p:nvSpPr>
        <p:spPr>
          <a:xfrm>
            <a:off x="5751751" y="3879056"/>
            <a:ext cx="2963624" cy="1178719"/>
          </a:xfrm>
          <a:prstGeom prst="rect">
            <a:avLst/>
          </a:prstGeom>
          <a:solidFill>
            <a:srgbClr val="3182CE"/>
          </a:solidFill>
          <a:ln/>
        </p:spPr>
      </p:sp>
      <p:sp>
        <p:nvSpPr>
          <p:cNvPr id="63" name="Text 44"/>
          <p:cNvSpPr/>
          <p:nvPr/>
        </p:nvSpPr>
        <p:spPr>
          <a:xfrm>
            <a:off x="5866051" y="4189809"/>
            <a:ext cx="2735024" cy="557213"/>
          </a:xfrm>
          <a:prstGeom prst="rect">
            <a:avLst/>
          </a:prstGeom>
          <a:noFill/>
          <a:ln/>
        </p:spPr>
        <p:txBody>
          <a:bodyPr wrap="square" lIns="0" tIns="0" rIns="0" bIns="0" rtlCol="0" anchor="t">
            <a:spAutoFit/>
          </a:bodyPr>
          <a:lstStyle/>
          <a:p>
            <a:pPr algn="ctr" indent="0" marL="0">
              <a:lnSpc>
                <a:spcPts val="1500"/>
              </a:lnSpc>
              <a:buNone/>
            </a:pPr>
            <a:r>
              <a:rPr lang="en-US" sz="987" b="1" i="1" dirty="0">
                <a:solidFill>
                  <a:srgbClr val="FFFFFF"/>
                </a:solidFill>
              </a:rPr>
              <a:t>"Standardizing our foundation to accelerate innovation and ensure global resilience."</a:t>
            </a:r>
            <a:endParaRPr lang="en-US" sz="98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0" y="285750"/>
            <a:ext cx="9144000" cy="428625"/>
          </a:xfrm>
          <a:prstGeom prst="rect">
            <a:avLst/>
          </a:prstGeom>
          <a:noFill/>
          <a:ln/>
        </p:spPr>
        <p:txBody>
          <a:bodyPr wrap="none" lIns="0" tIns="0" rIns="0" bIns="0" rtlCol="0" anchor="t">
            <a:spAutoFit/>
          </a:bodyPr>
          <a:lstStyle/>
          <a:p>
            <a:pPr algn="ctr" indent="0" marL="0">
              <a:lnSpc>
                <a:spcPts val="3000"/>
              </a:lnSpc>
              <a:buNone/>
            </a:pPr>
            <a:r>
              <a:rPr lang="en-US" sz="2226" b="1" dirty="0">
                <a:solidFill>
                  <a:srgbClr val="1A202C"/>
                </a:solidFill>
              </a:rPr>
              <a:t>Modernization Stages</a:t>
            </a:r>
            <a:endParaRPr lang="en-US" sz="2226" dirty="0"/>
          </a:p>
        </p:txBody>
      </p:sp>
      <p:sp>
        <p:nvSpPr>
          <p:cNvPr id="5" name="Text 1"/>
          <p:cNvSpPr/>
          <p:nvPr/>
        </p:nvSpPr>
        <p:spPr>
          <a:xfrm>
            <a:off x="0" y="785813"/>
            <a:ext cx="9144000" cy="214313"/>
          </a:xfrm>
          <a:prstGeom prst="rect">
            <a:avLst/>
          </a:prstGeom>
          <a:noFill/>
          <a:ln/>
        </p:spPr>
        <p:txBody>
          <a:bodyPr wrap="none" lIns="0" tIns="0" rIns="0" bIns="0" rtlCol="0" anchor="t">
            <a:spAutoFit/>
          </a:bodyPr>
          <a:lstStyle/>
          <a:p>
            <a:pPr algn="ctr" indent="0" marL="0">
              <a:lnSpc>
                <a:spcPts val="1500"/>
              </a:lnSpc>
              <a:buNone/>
            </a:pPr>
            <a:r>
              <a:rPr lang="en-US" sz="1159" dirty="0">
                <a:solidFill>
                  <a:srgbClr val="4A5568"/>
                </a:solidFill>
              </a:rPr>
              <a:t>Evolution of Multi-Region Database Architecture</a:t>
            </a:r>
            <a:endParaRPr lang="en-US" sz="1159" dirty="0"/>
          </a:p>
        </p:txBody>
      </p:sp>
      <p:sp>
        <p:nvSpPr>
          <p:cNvPr id="6" name="Shape 2"/>
          <p:cNvSpPr/>
          <p:nvPr/>
        </p:nvSpPr>
        <p:spPr>
          <a:xfrm>
            <a:off x="285750" y="1214438"/>
            <a:ext cx="2757488" cy="3714750"/>
          </a:xfrm>
          <a:prstGeom prst="rect">
            <a:avLst/>
          </a:prstGeom>
          <a:solidFill>
            <a:srgbClr val="F8F9FA"/>
          </a:solidFill>
          <a:ln w="9144">
            <a:solidFill>
              <a:srgbClr val="E2E8F0"/>
            </a:solidFill>
            <a:prstDash val="solid"/>
          </a:ln>
        </p:spPr>
      </p:sp>
      <p:sp>
        <p:nvSpPr>
          <p:cNvPr id="7" name="Shape 3"/>
          <p:cNvSpPr/>
          <p:nvPr/>
        </p:nvSpPr>
        <p:spPr>
          <a:xfrm>
            <a:off x="1131587" y="1357313"/>
            <a:ext cx="1056270" cy="173236"/>
          </a:xfrm>
          <a:prstGeom prst="roundRect">
            <a:avLst/>
          </a:prstGeom>
          <a:solidFill>
            <a:srgbClr val="2D3748"/>
          </a:solidFill>
          <a:ln/>
        </p:spPr>
      </p:sp>
      <p:sp>
        <p:nvSpPr>
          <p:cNvPr id="8" name="Text 4"/>
          <p:cNvSpPr/>
          <p:nvPr/>
        </p:nvSpPr>
        <p:spPr>
          <a:xfrm>
            <a:off x="1131587" y="1357313"/>
            <a:ext cx="1056270" cy="173236"/>
          </a:xfrm>
          <a:prstGeom prst="rect">
            <a:avLst/>
          </a:prstGeom>
          <a:noFill/>
          <a:ln/>
        </p:spPr>
        <p:txBody>
          <a:bodyPr wrap="square" lIns="102108" tIns="34036" rIns="102108" bIns="34036" rtlCol="0" anchor="t">
            <a:spAutoFit/>
          </a:bodyPr>
          <a:lstStyle/>
          <a:p>
            <a:pPr algn="l" indent="0" marL="0">
              <a:lnSpc>
                <a:spcPts val="800"/>
              </a:lnSpc>
              <a:buNone/>
            </a:pPr>
            <a:r>
              <a:rPr lang="en-US" sz="584" b="1" dirty="0">
                <a:solidFill>
                  <a:srgbClr val="FFFFFF"/>
                </a:solidFill>
              </a:rPr>
              <a:t>Target: End of Q1</a:t>
            </a:r>
            <a:endParaRPr lang="en-US" sz="584" dirty="0"/>
          </a:p>
        </p:txBody>
      </p:sp>
      <p:sp>
        <p:nvSpPr>
          <p:cNvPr id="9" name="Shape 5"/>
          <p:cNvSpPr/>
          <p:nvPr/>
        </p:nvSpPr>
        <p:spPr>
          <a:xfrm>
            <a:off x="1552566" y="1637705"/>
            <a:ext cx="214313" cy="214313"/>
          </a:xfrm>
          <a:prstGeom prst="ellipse">
            <a:avLst/>
          </a:prstGeom>
          <a:solidFill>
            <a:srgbClr val="3182CE"/>
          </a:solidFill>
          <a:ln/>
        </p:spPr>
      </p:sp>
      <p:sp>
        <p:nvSpPr>
          <p:cNvPr id="10" name="Text 6"/>
          <p:cNvSpPr/>
          <p:nvPr/>
        </p:nvSpPr>
        <p:spPr>
          <a:xfrm>
            <a:off x="1552566" y="1637705"/>
            <a:ext cx="214313" cy="214313"/>
          </a:xfrm>
          <a:prstGeom prst="rect">
            <a:avLst/>
          </a:prstGeom>
          <a:noFill/>
          <a:ln/>
        </p:spPr>
        <p:txBody>
          <a:bodyPr wrap="square" lIns="0" tIns="0" rIns="0" bIns="0" rtlCol="0" anchor="ctr">
            <a:spAutoFit/>
          </a:bodyPr>
          <a:lstStyle/>
          <a:p>
            <a:pPr algn="ctr" indent="0" marL="0">
              <a:lnSpc>
                <a:spcPts val="1100"/>
              </a:lnSpc>
              <a:buNone/>
            </a:pPr>
            <a:r>
              <a:rPr lang="en-US" sz="784" b="1" dirty="0">
                <a:solidFill>
                  <a:srgbClr val="FFFFFF"/>
                </a:solidFill>
              </a:rPr>
              <a:t>1</a:t>
            </a:r>
            <a:endParaRPr lang="en-US" sz="784" dirty="0"/>
          </a:p>
        </p:txBody>
      </p:sp>
      <p:sp>
        <p:nvSpPr>
          <p:cNvPr id="11" name="Text 7"/>
          <p:cNvSpPr/>
          <p:nvPr/>
        </p:nvSpPr>
        <p:spPr>
          <a:xfrm>
            <a:off x="1047508" y="1923455"/>
            <a:ext cx="1224455" cy="194667"/>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2D3748"/>
                </a:solidFill>
              </a:rPr>
              <a:t>Active-Pilot Light</a:t>
            </a:r>
            <a:endParaRPr lang="en-US" sz="987" dirty="0"/>
          </a:p>
        </p:txBody>
      </p:sp>
      <p:sp>
        <p:nvSpPr>
          <p:cNvPr id="12" name="Text 8"/>
          <p:cNvSpPr/>
          <p:nvPr/>
        </p:nvSpPr>
        <p:spPr>
          <a:xfrm>
            <a:off x="1024235" y="2153841"/>
            <a:ext cx="1270974" cy="135731"/>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718096"/>
                </a:solidFill>
              </a:rPr>
              <a:t>Existing Database Platform</a:t>
            </a:r>
            <a:endParaRPr lang="en-US" sz="727" dirty="0"/>
          </a:p>
        </p:txBody>
      </p:sp>
      <p:sp>
        <p:nvSpPr>
          <p:cNvPr id="13" name="Shape 9"/>
          <p:cNvSpPr/>
          <p:nvPr/>
        </p:nvSpPr>
        <p:spPr>
          <a:xfrm>
            <a:off x="428625" y="2432447"/>
            <a:ext cx="2462222" cy="601861"/>
          </a:xfrm>
          <a:prstGeom prst="rect">
            <a:avLst/>
          </a:prstGeom>
          <a:solidFill>
            <a:srgbClr val="EBF8FF"/>
          </a:solidFill>
          <a:ln w="18288">
            <a:solidFill>
              <a:srgbClr val="3182CE"/>
            </a:solidFill>
            <a:prstDash val="solid"/>
          </a:ln>
        </p:spPr>
      </p:sp>
      <p:sp>
        <p:nvSpPr>
          <p:cNvPr id="14" name="Text 10"/>
          <p:cNvSpPr/>
          <p:nvPr/>
        </p:nvSpPr>
        <p:spPr>
          <a:xfrm>
            <a:off x="1259002" y="2539603"/>
            <a:ext cx="80146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4A5568"/>
                </a:solidFill>
              </a:rPr>
              <a:t>Region A (Primary)</a:t>
            </a:r>
            <a:endParaRPr lang="en-US" sz="584" dirty="0"/>
          </a:p>
        </p:txBody>
      </p:sp>
      <p:pic>
        <p:nvPicPr>
          <p:cNvPr id="15" name="Image 1" descr="preencoded.png">    </p:cNvPr>
          <p:cNvPicPr>
            <a:picLocks noChangeAspect="1"/>
          </p:cNvPicPr>
          <p:nvPr/>
        </p:nvPicPr>
        <p:blipFill>
          <a:blip r:embed="rId2"/>
          <a:stretch>
            <a:fillRect/>
          </a:stretch>
        </p:blipFill>
        <p:spPr>
          <a:xfrm>
            <a:off x="1378214" y="2727127"/>
            <a:ext cx="150019" cy="171450"/>
          </a:xfrm>
          <a:prstGeom prst="rect">
            <a:avLst/>
          </a:prstGeom>
        </p:spPr>
      </p:pic>
      <p:sp>
        <p:nvSpPr>
          <p:cNvPr id="16" name="Text 11"/>
          <p:cNvSpPr/>
          <p:nvPr/>
        </p:nvSpPr>
        <p:spPr>
          <a:xfrm>
            <a:off x="1599670" y="2744986"/>
            <a:ext cx="341561"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A202C"/>
                </a:solidFill>
              </a:rPr>
              <a:t>ACTIVE</a:t>
            </a:r>
            <a:endParaRPr lang="en-US" sz="683" dirty="0"/>
          </a:p>
        </p:txBody>
      </p:sp>
      <p:pic>
        <p:nvPicPr>
          <p:cNvPr id="17" name="Image 2" descr="preencoded.png">    </p:cNvPr>
          <p:cNvPicPr>
            <a:picLocks noChangeAspect="1"/>
          </p:cNvPicPr>
          <p:nvPr/>
        </p:nvPicPr>
        <p:blipFill>
          <a:blip r:embed="rId3"/>
          <a:stretch>
            <a:fillRect/>
          </a:stretch>
        </p:blipFill>
        <p:spPr>
          <a:xfrm>
            <a:off x="1616859" y="3128070"/>
            <a:ext cx="85725" cy="114300"/>
          </a:xfrm>
          <a:prstGeom prst="rect">
            <a:avLst/>
          </a:prstGeom>
        </p:spPr>
      </p:pic>
      <p:sp>
        <p:nvSpPr>
          <p:cNvPr id="18" name="Text 12"/>
          <p:cNvSpPr/>
          <p:nvPr/>
        </p:nvSpPr>
        <p:spPr>
          <a:xfrm>
            <a:off x="1429559" y="3242370"/>
            <a:ext cx="460353" cy="98227"/>
          </a:xfrm>
          <a:prstGeom prst="rect">
            <a:avLst/>
          </a:prstGeom>
          <a:noFill/>
          <a:ln/>
        </p:spPr>
        <p:txBody>
          <a:bodyPr wrap="none" lIns="0" tIns="0" rIns="0" bIns="0" rtlCol="0" anchor="t">
            <a:spAutoFit/>
          </a:bodyPr>
          <a:lstStyle/>
          <a:p>
            <a:pPr algn="l" indent="0" marL="0">
              <a:lnSpc>
                <a:spcPts val="700"/>
              </a:lnSpc>
              <a:buNone/>
            </a:pPr>
            <a:r>
              <a:rPr lang="en-US" sz="516" dirty="0">
                <a:solidFill>
                  <a:srgbClr val="A0AEC0"/>
                </a:solidFill>
              </a:rPr>
              <a:t>Async Backup</a:t>
            </a:r>
            <a:endParaRPr lang="en-US" sz="516" dirty="0"/>
          </a:p>
        </p:txBody>
      </p:sp>
      <p:sp>
        <p:nvSpPr>
          <p:cNvPr id="19" name="Shape 13"/>
          <p:cNvSpPr/>
          <p:nvPr/>
        </p:nvSpPr>
        <p:spPr>
          <a:xfrm>
            <a:off x="428625" y="3377208"/>
            <a:ext cx="2462222" cy="587573"/>
          </a:xfrm>
          <a:prstGeom prst="rect">
            <a:avLst/>
          </a:prstGeom>
          <a:solidFill>
            <a:srgbClr val="FFFFFF"/>
          </a:solidFill>
          <a:ln w="9144">
            <a:solidFill>
              <a:srgbClr val="CBD5E0"/>
            </a:solidFill>
            <a:prstDash val="solid"/>
          </a:ln>
        </p:spPr>
      </p:sp>
      <p:sp>
        <p:nvSpPr>
          <p:cNvPr id="20" name="Text 14"/>
          <p:cNvSpPr/>
          <p:nvPr/>
        </p:nvSpPr>
        <p:spPr>
          <a:xfrm>
            <a:off x="1208494" y="3484364"/>
            <a:ext cx="90245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4A5568"/>
                </a:solidFill>
              </a:rPr>
              <a:t>Region B (Secondary)</a:t>
            </a:r>
            <a:endParaRPr lang="en-US" sz="584" dirty="0"/>
          </a:p>
        </p:txBody>
      </p:sp>
      <p:pic>
        <p:nvPicPr>
          <p:cNvPr id="21" name="Image 3" descr="preencoded.png">    </p:cNvPr>
          <p:cNvPicPr>
            <a:picLocks noChangeAspect="1"/>
          </p:cNvPicPr>
          <p:nvPr/>
        </p:nvPicPr>
        <p:blipFill>
          <a:blip r:embed="rId4"/>
          <a:stretch>
            <a:fillRect/>
          </a:stretch>
        </p:blipFill>
        <p:spPr>
          <a:xfrm>
            <a:off x="1255626" y="3671888"/>
            <a:ext cx="128588" cy="171450"/>
          </a:xfrm>
          <a:prstGeom prst="rect">
            <a:avLst/>
          </a:prstGeom>
        </p:spPr>
      </p:pic>
      <p:sp>
        <p:nvSpPr>
          <p:cNvPr id="22" name="Text 15"/>
          <p:cNvSpPr/>
          <p:nvPr/>
        </p:nvSpPr>
        <p:spPr>
          <a:xfrm>
            <a:off x="1455651" y="3689747"/>
            <a:ext cx="608195"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718096"/>
                </a:solidFill>
              </a:rPr>
              <a:t>PILOT LIGHT</a:t>
            </a:r>
            <a:endParaRPr lang="en-US" sz="683" dirty="0"/>
          </a:p>
        </p:txBody>
      </p:sp>
      <p:sp>
        <p:nvSpPr>
          <p:cNvPr id="23" name="Shape 16"/>
          <p:cNvSpPr/>
          <p:nvPr/>
        </p:nvSpPr>
        <p:spPr>
          <a:xfrm>
            <a:off x="1224707" y="4613077"/>
            <a:ext cx="870031" cy="173236"/>
          </a:xfrm>
          <a:prstGeom prst="roundRect">
            <a:avLst/>
          </a:prstGeom>
          <a:solidFill>
            <a:srgbClr val="EDF2F7"/>
          </a:solidFill>
          <a:ln/>
        </p:spPr>
      </p:sp>
      <p:sp>
        <p:nvSpPr>
          <p:cNvPr id="24" name="Text 17"/>
          <p:cNvSpPr/>
          <p:nvPr/>
        </p:nvSpPr>
        <p:spPr>
          <a:xfrm>
            <a:off x="1224707" y="4613077"/>
            <a:ext cx="870031" cy="173236"/>
          </a:xfrm>
          <a:prstGeom prst="rect">
            <a:avLst/>
          </a:prstGeom>
          <a:noFill/>
          <a:ln/>
        </p:spPr>
        <p:txBody>
          <a:bodyPr wrap="square" lIns="102108" tIns="34036" rIns="102108" bIns="34036" rtlCol="0" anchor="t">
            <a:spAutoFit/>
          </a:bodyPr>
          <a:lstStyle/>
          <a:p>
            <a:pPr algn="l" indent="0" marL="0">
              <a:lnSpc>
                <a:spcPts val="800"/>
              </a:lnSpc>
              <a:buNone/>
            </a:pPr>
            <a:r>
              <a:rPr lang="en-US" sz="584" b="1" dirty="0">
                <a:solidFill>
                  <a:srgbClr val="4A5568"/>
                </a:solidFill>
              </a:rPr>
              <a:t>Legacy Platform</a:t>
            </a:r>
            <a:endParaRPr lang="en-US" sz="584" dirty="0"/>
          </a:p>
        </p:txBody>
      </p:sp>
      <p:sp>
        <p:nvSpPr>
          <p:cNvPr id="25" name="Shape 18"/>
          <p:cNvSpPr/>
          <p:nvPr/>
        </p:nvSpPr>
        <p:spPr>
          <a:xfrm>
            <a:off x="3176597" y="1214438"/>
            <a:ext cx="2762259" cy="3714750"/>
          </a:xfrm>
          <a:prstGeom prst="rect">
            <a:avLst/>
          </a:prstGeom>
          <a:solidFill>
            <a:srgbClr val="F8F9FA"/>
          </a:solidFill>
          <a:ln w="9144">
            <a:solidFill>
              <a:srgbClr val="E2E8F0"/>
            </a:solidFill>
            <a:prstDash val="solid"/>
          </a:ln>
        </p:spPr>
      </p:sp>
      <p:sp>
        <p:nvSpPr>
          <p:cNvPr id="26" name="Shape 19"/>
          <p:cNvSpPr/>
          <p:nvPr/>
        </p:nvSpPr>
        <p:spPr>
          <a:xfrm>
            <a:off x="4029549" y="1357313"/>
            <a:ext cx="1056270" cy="173236"/>
          </a:xfrm>
          <a:prstGeom prst="roundRect">
            <a:avLst/>
          </a:prstGeom>
          <a:solidFill>
            <a:srgbClr val="2D3748"/>
          </a:solidFill>
          <a:ln/>
        </p:spPr>
      </p:sp>
      <p:sp>
        <p:nvSpPr>
          <p:cNvPr id="27" name="Text 20"/>
          <p:cNvSpPr/>
          <p:nvPr/>
        </p:nvSpPr>
        <p:spPr>
          <a:xfrm>
            <a:off x="4029549" y="1357313"/>
            <a:ext cx="1056270" cy="173236"/>
          </a:xfrm>
          <a:prstGeom prst="rect">
            <a:avLst/>
          </a:prstGeom>
          <a:noFill/>
          <a:ln/>
        </p:spPr>
        <p:txBody>
          <a:bodyPr wrap="square" lIns="102108" tIns="34036" rIns="102108" bIns="34036" rtlCol="0" anchor="t">
            <a:spAutoFit/>
          </a:bodyPr>
          <a:lstStyle/>
          <a:p>
            <a:pPr algn="l" indent="0" marL="0">
              <a:lnSpc>
                <a:spcPts val="800"/>
              </a:lnSpc>
              <a:buNone/>
            </a:pPr>
            <a:r>
              <a:rPr lang="en-US" sz="584" b="1" dirty="0">
                <a:solidFill>
                  <a:srgbClr val="FFFFFF"/>
                </a:solidFill>
              </a:rPr>
              <a:t>Target: End of Q2</a:t>
            </a:r>
            <a:endParaRPr lang="en-US" sz="584" dirty="0"/>
          </a:p>
        </p:txBody>
      </p:sp>
      <p:sp>
        <p:nvSpPr>
          <p:cNvPr id="28" name="Shape 21"/>
          <p:cNvSpPr/>
          <p:nvPr/>
        </p:nvSpPr>
        <p:spPr>
          <a:xfrm>
            <a:off x="4450528" y="1637705"/>
            <a:ext cx="214313" cy="214313"/>
          </a:xfrm>
          <a:prstGeom prst="ellipse">
            <a:avLst/>
          </a:prstGeom>
          <a:solidFill>
            <a:srgbClr val="3182CE"/>
          </a:solidFill>
          <a:ln/>
        </p:spPr>
      </p:sp>
      <p:sp>
        <p:nvSpPr>
          <p:cNvPr id="29" name="Text 22"/>
          <p:cNvSpPr/>
          <p:nvPr/>
        </p:nvSpPr>
        <p:spPr>
          <a:xfrm>
            <a:off x="4450528" y="1637705"/>
            <a:ext cx="214313" cy="214313"/>
          </a:xfrm>
          <a:prstGeom prst="rect">
            <a:avLst/>
          </a:prstGeom>
          <a:noFill/>
          <a:ln/>
        </p:spPr>
        <p:txBody>
          <a:bodyPr wrap="square" lIns="0" tIns="0" rIns="0" bIns="0" rtlCol="0" anchor="ctr">
            <a:spAutoFit/>
          </a:bodyPr>
          <a:lstStyle/>
          <a:p>
            <a:pPr algn="ctr" indent="0" marL="0">
              <a:lnSpc>
                <a:spcPts val="1100"/>
              </a:lnSpc>
              <a:buNone/>
            </a:pPr>
            <a:r>
              <a:rPr lang="en-US" sz="784" b="1" dirty="0">
                <a:solidFill>
                  <a:srgbClr val="FFFFFF"/>
                </a:solidFill>
              </a:rPr>
              <a:t>2</a:t>
            </a:r>
            <a:endParaRPr lang="en-US" sz="784" dirty="0"/>
          </a:p>
        </p:txBody>
      </p:sp>
      <p:sp>
        <p:nvSpPr>
          <p:cNvPr id="30" name="Text 23"/>
          <p:cNvSpPr/>
          <p:nvPr/>
        </p:nvSpPr>
        <p:spPr>
          <a:xfrm>
            <a:off x="3790959" y="1923455"/>
            <a:ext cx="1533478" cy="194667"/>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2D3748"/>
                </a:solidFill>
              </a:rPr>
              <a:t>Active-Warm Standby</a:t>
            </a:r>
            <a:endParaRPr lang="en-US" sz="987" dirty="0"/>
          </a:p>
        </p:txBody>
      </p:sp>
      <p:sp>
        <p:nvSpPr>
          <p:cNvPr id="31" name="Text 24"/>
          <p:cNvSpPr/>
          <p:nvPr/>
        </p:nvSpPr>
        <p:spPr>
          <a:xfrm>
            <a:off x="3922198" y="2153841"/>
            <a:ext cx="1270974" cy="135731"/>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718096"/>
                </a:solidFill>
              </a:rPr>
              <a:t>Existing Database Platform</a:t>
            </a:r>
            <a:endParaRPr lang="en-US" sz="727" dirty="0"/>
          </a:p>
        </p:txBody>
      </p:sp>
      <p:sp>
        <p:nvSpPr>
          <p:cNvPr id="32" name="Shape 25"/>
          <p:cNvSpPr/>
          <p:nvPr/>
        </p:nvSpPr>
        <p:spPr>
          <a:xfrm>
            <a:off x="3324216" y="2432447"/>
            <a:ext cx="2466966" cy="601861"/>
          </a:xfrm>
          <a:prstGeom prst="rect">
            <a:avLst/>
          </a:prstGeom>
          <a:solidFill>
            <a:srgbClr val="EBF8FF"/>
          </a:solidFill>
          <a:ln w="18288">
            <a:solidFill>
              <a:srgbClr val="3182CE"/>
            </a:solidFill>
            <a:prstDash val="solid"/>
          </a:ln>
        </p:spPr>
      </p:sp>
      <p:sp>
        <p:nvSpPr>
          <p:cNvPr id="33" name="Text 26"/>
          <p:cNvSpPr/>
          <p:nvPr/>
        </p:nvSpPr>
        <p:spPr>
          <a:xfrm>
            <a:off x="4156965" y="2539603"/>
            <a:ext cx="80146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4A5568"/>
                </a:solidFill>
              </a:rPr>
              <a:t>Region A (Primary)</a:t>
            </a:r>
            <a:endParaRPr lang="en-US" sz="584" dirty="0"/>
          </a:p>
        </p:txBody>
      </p:sp>
      <p:pic>
        <p:nvPicPr>
          <p:cNvPr id="34" name="Image 4" descr="preencoded.png">    </p:cNvPr>
          <p:cNvPicPr>
            <a:picLocks noChangeAspect="1"/>
          </p:cNvPicPr>
          <p:nvPr/>
        </p:nvPicPr>
        <p:blipFill>
          <a:blip r:embed="rId5"/>
          <a:stretch>
            <a:fillRect/>
          </a:stretch>
        </p:blipFill>
        <p:spPr>
          <a:xfrm>
            <a:off x="4276176" y="2727127"/>
            <a:ext cx="150019" cy="171450"/>
          </a:xfrm>
          <a:prstGeom prst="rect">
            <a:avLst/>
          </a:prstGeom>
        </p:spPr>
      </p:pic>
      <p:sp>
        <p:nvSpPr>
          <p:cNvPr id="35" name="Text 27"/>
          <p:cNvSpPr/>
          <p:nvPr/>
        </p:nvSpPr>
        <p:spPr>
          <a:xfrm>
            <a:off x="4497632" y="2744986"/>
            <a:ext cx="341561"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A202C"/>
                </a:solidFill>
              </a:rPr>
              <a:t>ACTIVE</a:t>
            </a:r>
            <a:endParaRPr lang="en-US" sz="683" dirty="0"/>
          </a:p>
        </p:txBody>
      </p:sp>
      <p:pic>
        <p:nvPicPr>
          <p:cNvPr id="36" name="Image 5" descr="preencoded.png">    </p:cNvPr>
          <p:cNvPicPr>
            <a:picLocks noChangeAspect="1"/>
          </p:cNvPicPr>
          <p:nvPr/>
        </p:nvPicPr>
        <p:blipFill>
          <a:blip r:embed="rId6"/>
          <a:stretch>
            <a:fillRect/>
          </a:stretch>
        </p:blipFill>
        <p:spPr>
          <a:xfrm>
            <a:off x="4514822" y="3142357"/>
            <a:ext cx="85725" cy="85725"/>
          </a:xfrm>
          <a:prstGeom prst="rect">
            <a:avLst/>
          </a:prstGeom>
        </p:spPr>
      </p:pic>
      <p:sp>
        <p:nvSpPr>
          <p:cNvPr id="37" name="Text 28"/>
          <p:cNvSpPr/>
          <p:nvPr/>
        </p:nvSpPr>
        <p:spPr>
          <a:xfrm>
            <a:off x="4169355" y="3228082"/>
            <a:ext cx="776687" cy="98227"/>
          </a:xfrm>
          <a:prstGeom prst="rect">
            <a:avLst/>
          </a:prstGeom>
          <a:noFill/>
          <a:ln/>
        </p:spPr>
        <p:txBody>
          <a:bodyPr wrap="none" lIns="0" tIns="0" rIns="0" bIns="0" rtlCol="0" anchor="t">
            <a:spAutoFit/>
          </a:bodyPr>
          <a:lstStyle/>
          <a:p>
            <a:pPr algn="l" indent="0" marL="0">
              <a:lnSpc>
                <a:spcPts val="700"/>
              </a:lnSpc>
              <a:buNone/>
            </a:pPr>
            <a:r>
              <a:rPr lang="en-US" sz="516" dirty="0">
                <a:solidFill>
                  <a:srgbClr val="3182CE"/>
                </a:solidFill>
              </a:rPr>
              <a:t>Continuous Replication</a:t>
            </a:r>
            <a:endParaRPr lang="en-US" sz="516" dirty="0"/>
          </a:p>
        </p:txBody>
      </p:sp>
      <p:sp>
        <p:nvSpPr>
          <p:cNvPr id="38" name="Shape 29"/>
          <p:cNvSpPr/>
          <p:nvPr/>
        </p:nvSpPr>
        <p:spPr>
          <a:xfrm>
            <a:off x="3324216" y="3377208"/>
            <a:ext cx="2466966" cy="587573"/>
          </a:xfrm>
          <a:prstGeom prst="rect">
            <a:avLst/>
          </a:prstGeom>
          <a:solidFill>
            <a:srgbClr val="FFFFFF"/>
          </a:solidFill>
          <a:ln w="9144">
            <a:solidFill>
              <a:srgbClr val="CBD5E0"/>
            </a:solidFill>
            <a:prstDash val="solid"/>
          </a:ln>
        </p:spPr>
      </p:sp>
      <p:sp>
        <p:nvSpPr>
          <p:cNvPr id="39" name="Text 30"/>
          <p:cNvSpPr/>
          <p:nvPr/>
        </p:nvSpPr>
        <p:spPr>
          <a:xfrm>
            <a:off x="4106456" y="3484364"/>
            <a:ext cx="90245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4A5568"/>
                </a:solidFill>
              </a:rPr>
              <a:t>Region B (Secondary)</a:t>
            </a:r>
            <a:endParaRPr lang="en-US" sz="584" dirty="0"/>
          </a:p>
        </p:txBody>
      </p:sp>
      <p:pic>
        <p:nvPicPr>
          <p:cNvPr id="40" name="Image 6" descr="preencoded.png">    </p:cNvPr>
          <p:cNvPicPr>
            <a:picLocks noChangeAspect="1"/>
          </p:cNvPicPr>
          <p:nvPr/>
        </p:nvPicPr>
        <p:blipFill>
          <a:blip r:embed="rId7"/>
          <a:stretch>
            <a:fillRect/>
          </a:stretch>
        </p:blipFill>
        <p:spPr>
          <a:xfrm>
            <a:off x="4071575" y="3671888"/>
            <a:ext cx="107156" cy="171450"/>
          </a:xfrm>
          <a:prstGeom prst="rect">
            <a:avLst/>
          </a:prstGeom>
        </p:spPr>
      </p:pic>
      <p:sp>
        <p:nvSpPr>
          <p:cNvPr id="41" name="Text 31"/>
          <p:cNvSpPr/>
          <p:nvPr/>
        </p:nvSpPr>
        <p:spPr>
          <a:xfrm>
            <a:off x="4250168" y="3689747"/>
            <a:ext cx="793626"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182CE"/>
                </a:solidFill>
              </a:rPr>
              <a:t>WARM STANDBY</a:t>
            </a:r>
            <a:endParaRPr lang="en-US" sz="683" dirty="0"/>
          </a:p>
        </p:txBody>
      </p:sp>
      <p:sp>
        <p:nvSpPr>
          <p:cNvPr id="42" name="Shape 32"/>
          <p:cNvSpPr/>
          <p:nvPr/>
        </p:nvSpPr>
        <p:spPr>
          <a:xfrm>
            <a:off x="4122669" y="4613077"/>
            <a:ext cx="870031" cy="173236"/>
          </a:xfrm>
          <a:prstGeom prst="roundRect">
            <a:avLst/>
          </a:prstGeom>
          <a:solidFill>
            <a:srgbClr val="EDF2F7"/>
          </a:solidFill>
          <a:ln/>
        </p:spPr>
      </p:sp>
      <p:sp>
        <p:nvSpPr>
          <p:cNvPr id="43" name="Text 33"/>
          <p:cNvSpPr/>
          <p:nvPr/>
        </p:nvSpPr>
        <p:spPr>
          <a:xfrm>
            <a:off x="4122669" y="4613077"/>
            <a:ext cx="870031" cy="173236"/>
          </a:xfrm>
          <a:prstGeom prst="rect">
            <a:avLst/>
          </a:prstGeom>
          <a:noFill/>
          <a:ln/>
        </p:spPr>
        <p:txBody>
          <a:bodyPr wrap="square" lIns="102108" tIns="34036" rIns="102108" bIns="34036" rtlCol="0" anchor="t">
            <a:spAutoFit/>
          </a:bodyPr>
          <a:lstStyle/>
          <a:p>
            <a:pPr algn="l" indent="0" marL="0">
              <a:lnSpc>
                <a:spcPts val="800"/>
              </a:lnSpc>
              <a:buNone/>
            </a:pPr>
            <a:r>
              <a:rPr lang="en-US" sz="584" b="1" dirty="0">
                <a:solidFill>
                  <a:srgbClr val="4A5568"/>
                </a:solidFill>
              </a:rPr>
              <a:t>Legacy Platform</a:t>
            </a:r>
            <a:endParaRPr lang="en-US" sz="584" dirty="0"/>
          </a:p>
        </p:txBody>
      </p:sp>
      <p:sp>
        <p:nvSpPr>
          <p:cNvPr id="44" name="Shape 34"/>
          <p:cNvSpPr/>
          <p:nvPr/>
        </p:nvSpPr>
        <p:spPr>
          <a:xfrm>
            <a:off x="6076931" y="1214438"/>
            <a:ext cx="2781291" cy="3714750"/>
          </a:xfrm>
          <a:prstGeom prst="rect">
            <a:avLst/>
          </a:prstGeom>
          <a:solidFill>
            <a:srgbClr val="EBF8FF"/>
          </a:solidFill>
          <a:ln w="18288">
            <a:solidFill>
              <a:srgbClr val="3182CE"/>
            </a:solidFill>
            <a:prstDash val="solid"/>
          </a:ln>
        </p:spPr>
      </p:sp>
      <p:sp>
        <p:nvSpPr>
          <p:cNvPr id="45" name="Shape 35"/>
          <p:cNvSpPr/>
          <p:nvPr/>
        </p:nvSpPr>
        <p:spPr>
          <a:xfrm>
            <a:off x="6830876" y="1357313"/>
            <a:ext cx="1292544" cy="173236"/>
          </a:xfrm>
          <a:prstGeom prst="roundRect">
            <a:avLst/>
          </a:prstGeom>
          <a:solidFill>
            <a:srgbClr val="3182CE"/>
          </a:solidFill>
          <a:ln/>
        </p:spPr>
      </p:sp>
      <p:sp>
        <p:nvSpPr>
          <p:cNvPr id="46" name="Text 36"/>
          <p:cNvSpPr/>
          <p:nvPr/>
        </p:nvSpPr>
        <p:spPr>
          <a:xfrm>
            <a:off x="6830876" y="1357313"/>
            <a:ext cx="1292544" cy="173236"/>
          </a:xfrm>
          <a:prstGeom prst="rect">
            <a:avLst/>
          </a:prstGeom>
          <a:noFill/>
          <a:ln/>
        </p:spPr>
        <p:txBody>
          <a:bodyPr wrap="square" lIns="102108" tIns="34036" rIns="102108" bIns="34036" rtlCol="0" anchor="t">
            <a:spAutoFit/>
          </a:bodyPr>
          <a:lstStyle/>
          <a:p>
            <a:pPr algn="l" indent="0" marL="0">
              <a:lnSpc>
                <a:spcPts val="800"/>
              </a:lnSpc>
              <a:buNone/>
            </a:pPr>
            <a:r>
              <a:rPr lang="en-US" sz="584" b="1" dirty="0">
                <a:solidFill>
                  <a:srgbClr val="FFFFFF"/>
                </a:solidFill>
              </a:rPr>
              <a:t>Target: End of Q4 2027</a:t>
            </a:r>
            <a:endParaRPr lang="en-US" sz="584" dirty="0"/>
          </a:p>
        </p:txBody>
      </p:sp>
      <p:sp>
        <p:nvSpPr>
          <p:cNvPr id="47" name="Shape 37"/>
          <p:cNvSpPr/>
          <p:nvPr/>
        </p:nvSpPr>
        <p:spPr>
          <a:xfrm>
            <a:off x="7369978" y="1637705"/>
            <a:ext cx="214313" cy="214313"/>
          </a:xfrm>
          <a:prstGeom prst="ellipse">
            <a:avLst/>
          </a:prstGeom>
          <a:solidFill>
            <a:srgbClr val="3182CE"/>
          </a:solidFill>
          <a:ln/>
        </p:spPr>
      </p:sp>
      <p:sp>
        <p:nvSpPr>
          <p:cNvPr id="48" name="Text 38"/>
          <p:cNvSpPr/>
          <p:nvPr/>
        </p:nvSpPr>
        <p:spPr>
          <a:xfrm>
            <a:off x="7369978" y="1637705"/>
            <a:ext cx="214313" cy="214313"/>
          </a:xfrm>
          <a:prstGeom prst="rect">
            <a:avLst/>
          </a:prstGeom>
          <a:noFill/>
          <a:ln/>
        </p:spPr>
        <p:txBody>
          <a:bodyPr wrap="square" lIns="0" tIns="0" rIns="0" bIns="0" rtlCol="0" anchor="ctr">
            <a:spAutoFit/>
          </a:bodyPr>
          <a:lstStyle/>
          <a:p>
            <a:pPr algn="ctr" indent="0" marL="0">
              <a:lnSpc>
                <a:spcPts val="1100"/>
              </a:lnSpc>
              <a:buNone/>
            </a:pPr>
            <a:r>
              <a:rPr lang="en-US" sz="784" b="1" dirty="0">
                <a:solidFill>
                  <a:srgbClr val="FFFFFF"/>
                </a:solidFill>
              </a:rPr>
              <a:t>3</a:t>
            </a:r>
            <a:endParaRPr lang="en-US" sz="784" dirty="0"/>
          </a:p>
        </p:txBody>
      </p:sp>
      <p:sp>
        <p:nvSpPr>
          <p:cNvPr id="49" name="Text 39"/>
          <p:cNvSpPr/>
          <p:nvPr/>
        </p:nvSpPr>
        <p:spPr>
          <a:xfrm>
            <a:off x="7010781" y="1923455"/>
            <a:ext cx="932706" cy="194667"/>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2D3748"/>
                </a:solidFill>
              </a:rPr>
              <a:t>Active-Active</a:t>
            </a:r>
            <a:endParaRPr lang="en-US" sz="987" dirty="0"/>
          </a:p>
        </p:txBody>
      </p:sp>
      <p:sp>
        <p:nvSpPr>
          <p:cNvPr id="50" name="Text 40"/>
          <p:cNvSpPr/>
          <p:nvPr/>
        </p:nvSpPr>
        <p:spPr>
          <a:xfrm>
            <a:off x="7029841" y="2153841"/>
            <a:ext cx="894615" cy="135731"/>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718096"/>
                </a:solidFill>
              </a:rPr>
              <a:t>Aurora PostgreSQL</a:t>
            </a:r>
            <a:endParaRPr lang="en-US" sz="727" dirty="0"/>
          </a:p>
        </p:txBody>
      </p:sp>
      <p:sp>
        <p:nvSpPr>
          <p:cNvPr id="51" name="Shape 41"/>
          <p:cNvSpPr/>
          <p:nvPr/>
        </p:nvSpPr>
        <p:spPr>
          <a:xfrm>
            <a:off x="6238894" y="2432447"/>
            <a:ext cx="2476509" cy="601861"/>
          </a:xfrm>
          <a:prstGeom prst="rect">
            <a:avLst/>
          </a:prstGeom>
          <a:solidFill>
            <a:srgbClr val="EBF8FF"/>
          </a:solidFill>
          <a:ln w="18288">
            <a:solidFill>
              <a:srgbClr val="3182CE"/>
            </a:solidFill>
            <a:prstDash val="solid"/>
          </a:ln>
        </p:spPr>
      </p:sp>
      <p:sp>
        <p:nvSpPr>
          <p:cNvPr id="52" name="Text 42"/>
          <p:cNvSpPr/>
          <p:nvPr/>
        </p:nvSpPr>
        <p:spPr>
          <a:xfrm>
            <a:off x="7287909" y="2539603"/>
            <a:ext cx="378479"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4A5568"/>
                </a:solidFill>
              </a:rPr>
              <a:t>Region A</a:t>
            </a:r>
            <a:endParaRPr lang="en-US" sz="584" dirty="0"/>
          </a:p>
        </p:txBody>
      </p:sp>
      <p:pic>
        <p:nvPicPr>
          <p:cNvPr id="53" name="Image 7" descr="preencoded.png">    </p:cNvPr>
          <p:cNvPicPr>
            <a:picLocks noChangeAspect="1"/>
          </p:cNvPicPr>
          <p:nvPr/>
        </p:nvPicPr>
        <p:blipFill>
          <a:blip r:embed="rId8"/>
          <a:stretch>
            <a:fillRect/>
          </a:stretch>
        </p:blipFill>
        <p:spPr>
          <a:xfrm>
            <a:off x="7184910" y="2727127"/>
            <a:ext cx="171450" cy="171450"/>
          </a:xfrm>
          <a:prstGeom prst="rect">
            <a:avLst/>
          </a:prstGeom>
        </p:spPr>
      </p:pic>
      <p:sp>
        <p:nvSpPr>
          <p:cNvPr id="54" name="Text 43"/>
          <p:cNvSpPr/>
          <p:nvPr/>
        </p:nvSpPr>
        <p:spPr>
          <a:xfrm>
            <a:off x="7427798" y="2744986"/>
            <a:ext cx="341561"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A202C"/>
                </a:solidFill>
              </a:rPr>
              <a:t>ACTIVE</a:t>
            </a:r>
            <a:endParaRPr lang="en-US" sz="683" dirty="0"/>
          </a:p>
        </p:txBody>
      </p:sp>
      <p:pic>
        <p:nvPicPr>
          <p:cNvPr id="55" name="Image 8" descr="preencoded.png">    </p:cNvPr>
          <p:cNvPicPr>
            <a:picLocks noChangeAspect="1"/>
          </p:cNvPicPr>
          <p:nvPr/>
        </p:nvPicPr>
        <p:blipFill>
          <a:blip r:embed="rId9"/>
          <a:stretch>
            <a:fillRect/>
          </a:stretch>
        </p:blipFill>
        <p:spPr>
          <a:xfrm>
            <a:off x="7419984" y="3128070"/>
            <a:ext cx="114300" cy="114300"/>
          </a:xfrm>
          <a:prstGeom prst="rect">
            <a:avLst/>
          </a:prstGeom>
        </p:spPr>
      </p:pic>
      <p:sp>
        <p:nvSpPr>
          <p:cNvPr id="56" name="Text 44"/>
          <p:cNvSpPr/>
          <p:nvPr/>
        </p:nvSpPr>
        <p:spPr>
          <a:xfrm>
            <a:off x="7152903" y="3242370"/>
            <a:ext cx="648463" cy="98227"/>
          </a:xfrm>
          <a:prstGeom prst="rect">
            <a:avLst/>
          </a:prstGeom>
          <a:noFill/>
          <a:ln/>
        </p:spPr>
        <p:txBody>
          <a:bodyPr wrap="none" lIns="0" tIns="0" rIns="0" bIns="0" rtlCol="0" anchor="t">
            <a:spAutoFit/>
          </a:bodyPr>
          <a:lstStyle/>
          <a:p>
            <a:pPr algn="l" indent="0" marL="0">
              <a:lnSpc>
                <a:spcPts val="700"/>
              </a:lnSpc>
              <a:buNone/>
            </a:pPr>
            <a:r>
              <a:rPr lang="en-US" sz="485" b="1" dirty="0">
                <a:solidFill>
                  <a:srgbClr val="3182CE"/>
                </a:solidFill>
              </a:rPr>
              <a:t>Global Replication</a:t>
            </a:r>
            <a:endParaRPr lang="en-US" sz="485" dirty="0"/>
          </a:p>
        </p:txBody>
      </p:sp>
      <p:sp>
        <p:nvSpPr>
          <p:cNvPr id="57" name="Shape 45"/>
          <p:cNvSpPr/>
          <p:nvPr/>
        </p:nvSpPr>
        <p:spPr>
          <a:xfrm>
            <a:off x="6238894" y="3377208"/>
            <a:ext cx="2476509" cy="601861"/>
          </a:xfrm>
          <a:prstGeom prst="rect">
            <a:avLst/>
          </a:prstGeom>
          <a:solidFill>
            <a:srgbClr val="EBF8FF"/>
          </a:solidFill>
          <a:ln w="18288">
            <a:solidFill>
              <a:srgbClr val="3182CE"/>
            </a:solidFill>
            <a:prstDash val="solid"/>
          </a:ln>
        </p:spPr>
      </p:sp>
      <p:sp>
        <p:nvSpPr>
          <p:cNvPr id="58" name="Text 46"/>
          <p:cNvSpPr/>
          <p:nvPr/>
        </p:nvSpPr>
        <p:spPr>
          <a:xfrm>
            <a:off x="7288662" y="3484364"/>
            <a:ext cx="376944"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4A5568"/>
                </a:solidFill>
              </a:rPr>
              <a:t>Region B</a:t>
            </a:r>
            <a:endParaRPr lang="en-US" sz="584" dirty="0"/>
          </a:p>
        </p:txBody>
      </p:sp>
      <p:pic>
        <p:nvPicPr>
          <p:cNvPr id="59" name="Image 9" descr="preencoded.png">    </p:cNvPr>
          <p:cNvPicPr>
            <a:picLocks noChangeAspect="1"/>
          </p:cNvPicPr>
          <p:nvPr/>
        </p:nvPicPr>
        <p:blipFill>
          <a:blip r:embed="rId10"/>
          <a:stretch>
            <a:fillRect/>
          </a:stretch>
        </p:blipFill>
        <p:spPr>
          <a:xfrm>
            <a:off x="7184910" y="3671888"/>
            <a:ext cx="171450" cy="171450"/>
          </a:xfrm>
          <a:prstGeom prst="rect">
            <a:avLst/>
          </a:prstGeom>
        </p:spPr>
      </p:pic>
      <p:sp>
        <p:nvSpPr>
          <p:cNvPr id="60" name="Text 47"/>
          <p:cNvSpPr/>
          <p:nvPr/>
        </p:nvSpPr>
        <p:spPr>
          <a:xfrm>
            <a:off x="7427798" y="3689747"/>
            <a:ext cx="341561"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A202C"/>
                </a:solidFill>
              </a:rPr>
              <a:t>ACTIVE</a:t>
            </a:r>
            <a:endParaRPr lang="en-US" sz="683" dirty="0"/>
          </a:p>
        </p:txBody>
      </p:sp>
      <p:sp>
        <p:nvSpPr>
          <p:cNvPr id="61" name="Shape 48"/>
          <p:cNvSpPr/>
          <p:nvPr/>
        </p:nvSpPr>
        <p:spPr>
          <a:xfrm>
            <a:off x="6986532" y="4613077"/>
            <a:ext cx="981233" cy="173236"/>
          </a:xfrm>
          <a:prstGeom prst="roundRect">
            <a:avLst/>
          </a:prstGeom>
          <a:solidFill>
            <a:srgbClr val="BEE3F8"/>
          </a:solidFill>
          <a:ln/>
        </p:spPr>
      </p:sp>
      <p:sp>
        <p:nvSpPr>
          <p:cNvPr id="62" name="Text 49"/>
          <p:cNvSpPr/>
          <p:nvPr/>
        </p:nvSpPr>
        <p:spPr>
          <a:xfrm>
            <a:off x="6986532" y="4613077"/>
            <a:ext cx="981233" cy="173236"/>
          </a:xfrm>
          <a:prstGeom prst="rect">
            <a:avLst/>
          </a:prstGeom>
          <a:noFill/>
          <a:ln/>
        </p:spPr>
        <p:txBody>
          <a:bodyPr wrap="square" lIns="102108" tIns="34036" rIns="102108" bIns="34036" rtlCol="0" anchor="t">
            <a:spAutoFit/>
          </a:bodyPr>
          <a:lstStyle/>
          <a:p>
            <a:pPr algn="l" indent="0" marL="0">
              <a:lnSpc>
                <a:spcPts val="800"/>
              </a:lnSpc>
              <a:buNone/>
            </a:pPr>
            <a:r>
              <a:rPr lang="en-US" sz="584" b="1" dirty="0">
                <a:solidFill>
                  <a:srgbClr val="2B6CB0"/>
                </a:solidFill>
              </a:rPr>
              <a:t>Aurora PostgreSQL</a:t>
            </a:r>
            <a:endParaRPr lang="en-US" sz="58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219207"/>
          </a:xfrm>
          <a:prstGeom prst="rect">
            <a:avLst/>
          </a:prstGeom>
        </p:spPr>
      </p:pic>
      <p:sp>
        <p:nvSpPr>
          <p:cNvPr id="4" name="Text 0"/>
          <p:cNvSpPr/>
          <p:nvPr/>
        </p:nvSpPr>
        <p:spPr>
          <a:xfrm>
            <a:off x="428625" y="285750"/>
            <a:ext cx="8286750" cy="428625"/>
          </a:xfrm>
          <a:prstGeom prst="rect">
            <a:avLst/>
          </a:prstGeom>
          <a:noFill/>
          <a:ln/>
        </p:spPr>
        <p:txBody>
          <a:bodyPr wrap="none" lIns="0" tIns="0" rIns="0" bIns="0" rtlCol="0" anchor="t">
            <a:spAutoFit/>
          </a:bodyPr>
          <a:lstStyle/>
          <a:p>
            <a:pPr algn="ctr" indent="0" marL="0">
              <a:lnSpc>
                <a:spcPts val="3000"/>
              </a:lnSpc>
              <a:buNone/>
            </a:pPr>
            <a:r>
              <a:rPr lang="en-US" sz="2226" b="1" dirty="0">
                <a:solidFill>
                  <a:srgbClr val="000000"/>
                </a:solidFill>
              </a:rPr>
              <a:t>Migration Journey Pillars</a:t>
            </a:r>
            <a:endParaRPr lang="en-US" sz="2226" dirty="0"/>
          </a:p>
        </p:txBody>
      </p:sp>
      <p:sp>
        <p:nvSpPr>
          <p:cNvPr id="5" name="Text 1"/>
          <p:cNvSpPr/>
          <p:nvPr/>
        </p:nvSpPr>
        <p:spPr>
          <a:xfrm>
            <a:off x="428625" y="750094"/>
            <a:ext cx="8286750" cy="214313"/>
          </a:xfrm>
          <a:prstGeom prst="rect">
            <a:avLst/>
          </a:prstGeom>
          <a:noFill/>
          <a:ln/>
        </p:spPr>
        <p:txBody>
          <a:bodyPr wrap="none" lIns="0" tIns="0" rIns="0" bIns="0" rtlCol="0" anchor="t">
            <a:spAutoFit/>
          </a:bodyPr>
          <a:lstStyle/>
          <a:p>
            <a:pPr algn="ctr" indent="0" marL="0">
              <a:lnSpc>
                <a:spcPts val="1500"/>
              </a:lnSpc>
              <a:buNone/>
            </a:pPr>
            <a:r>
              <a:rPr lang="en-US" sz="1159" dirty="0">
                <a:solidFill>
                  <a:srgbClr val="666666"/>
                </a:solidFill>
              </a:rPr>
              <a:t>Strategic Approach to reach our Target state</a:t>
            </a:r>
            <a:endParaRPr lang="en-US" sz="1159" dirty="0"/>
          </a:p>
        </p:txBody>
      </p:sp>
      <p:sp>
        <p:nvSpPr>
          <p:cNvPr id="6" name="Shape 2"/>
          <p:cNvSpPr/>
          <p:nvPr/>
        </p:nvSpPr>
        <p:spPr>
          <a:xfrm>
            <a:off x="1354299" y="1100138"/>
            <a:ext cx="815615" cy="173236"/>
          </a:xfrm>
          <a:prstGeom prst="rect">
            <a:avLst/>
          </a:prstGeom>
          <a:solidFill>
            <a:srgbClr val="3182CE"/>
          </a:solidFill>
          <a:ln/>
        </p:spPr>
      </p:sp>
      <p:sp>
        <p:nvSpPr>
          <p:cNvPr id="7" name="Text 3"/>
          <p:cNvSpPr/>
          <p:nvPr/>
        </p:nvSpPr>
        <p:spPr>
          <a:xfrm>
            <a:off x="1354299" y="1100138"/>
            <a:ext cx="815615" cy="173236"/>
          </a:xfrm>
          <a:prstGeom prst="rect">
            <a:avLst/>
          </a:prstGeom>
          <a:noFill/>
          <a:ln/>
        </p:spPr>
        <p:txBody>
          <a:bodyPr wrap="square" lIns="127508" tIns="34036" rIns="127508" bIns="34036" rtlCol="0" anchor="t">
            <a:spAutoFit/>
          </a:bodyPr>
          <a:lstStyle/>
          <a:p>
            <a:pPr algn="l" indent="0" marL="0">
              <a:lnSpc>
                <a:spcPts val="800"/>
              </a:lnSpc>
              <a:buNone/>
            </a:pPr>
            <a:r>
              <a:rPr lang="en-US" sz="584" b="1" dirty="0">
                <a:solidFill>
                  <a:srgbClr val="FFFFFF"/>
                </a:solidFill>
              </a:rPr>
              <a:t>Workstream 1</a:t>
            </a:r>
            <a:endParaRPr lang="en-US" sz="584" dirty="0"/>
          </a:p>
        </p:txBody>
      </p:sp>
      <p:pic>
        <p:nvPicPr>
          <p:cNvPr id="8" name="Image 1" descr="preencoded.png">    </p:cNvPr>
          <p:cNvPicPr>
            <a:picLocks noChangeAspect="1"/>
          </p:cNvPicPr>
          <p:nvPr/>
        </p:nvPicPr>
        <p:blipFill>
          <a:blip r:embed="rId2"/>
          <a:stretch>
            <a:fillRect/>
          </a:stretch>
        </p:blipFill>
        <p:spPr>
          <a:xfrm>
            <a:off x="1619231" y="1526977"/>
            <a:ext cx="285750" cy="285750"/>
          </a:xfrm>
          <a:prstGeom prst="rect">
            <a:avLst/>
          </a:prstGeom>
        </p:spPr>
      </p:pic>
      <p:sp>
        <p:nvSpPr>
          <p:cNvPr id="9" name="Text 4"/>
          <p:cNvSpPr/>
          <p:nvPr/>
        </p:nvSpPr>
        <p:spPr>
          <a:xfrm>
            <a:off x="542925" y="2003822"/>
            <a:ext cx="2438391" cy="389334"/>
          </a:xfrm>
          <a:prstGeom prst="rect">
            <a:avLst/>
          </a:prstGeom>
          <a:noFill/>
          <a:ln/>
        </p:spPr>
        <p:txBody>
          <a:bodyPr wrap="square" lIns="0" tIns="0" rIns="0" bIns="0" rtlCol="0" anchor="t">
            <a:spAutoFit/>
          </a:bodyPr>
          <a:lstStyle/>
          <a:p>
            <a:pPr algn="ctr" indent="0" marL="0">
              <a:lnSpc>
                <a:spcPts val="1400"/>
              </a:lnSpc>
              <a:buNone/>
            </a:pPr>
            <a:r>
              <a:rPr lang="en-US" sz="987" b="1" dirty="0">
                <a:solidFill>
                  <a:srgbClr val="333333"/>
                </a:solidFill>
              </a:rPr>
              <a:t>Architectural Framework &amp; Governance</a:t>
            </a:r>
            <a:endParaRPr lang="en-US" sz="987" dirty="0"/>
          </a:p>
        </p:txBody>
      </p:sp>
      <p:sp>
        <p:nvSpPr>
          <p:cNvPr id="10" name="Text 5"/>
          <p:cNvSpPr/>
          <p:nvPr/>
        </p:nvSpPr>
        <p:spPr>
          <a:xfrm>
            <a:off x="542925" y="2500313"/>
            <a:ext cx="2438391" cy="390032"/>
          </a:xfrm>
          <a:prstGeom prst="rect">
            <a:avLst/>
          </a:prstGeom>
          <a:noFill/>
          <a:ln/>
        </p:spPr>
        <p:txBody>
          <a:bodyPr wrap="square" lIns="0" tIns="0" rIns="0" bIns="0" rtlCol="0" anchor="t">
            <a:spAutoFit/>
          </a:bodyPr>
          <a:lstStyle/>
          <a:p>
            <a:pPr algn="ctr" indent="0" marL="0">
              <a:lnSpc>
                <a:spcPts val="1000"/>
              </a:lnSpc>
              <a:buNone/>
            </a:pPr>
            <a:r>
              <a:rPr lang="en-US" sz="674" dirty="0">
                <a:solidFill>
                  <a:srgbClr val="555555"/>
                </a:solidFill>
              </a:rPr>
              <a:t>Establish a robust migration framework and standardized solutions to ensure consistency and repeatability across all migration phases.</a:t>
            </a:r>
            <a:endParaRPr lang="en-US" sz="674" dirty="0"/>
          </a:p>
        </p:txBody>
      </p:sp>
      <p:sp>
        <p:nvSpPr>
          <p:cNvPr id="11" name="Text 6"/>
          <p:cNvSpPr/>
          <p:nvPr/>
        </p:nvSpPr>
        <p:spPr>
          <a:xfrm>
            <a:off x="542925" y="3033220"/>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12" name="Text 7"/>
          <p:cNvSpPr/>
          <p:nvPr/>
        </p:nvSpPr>
        <p:spPr>
          <a:xfrm>
            <a:off x="650081" y="3033220"/>
            <a:ext cx="958518"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Reference Architectures</a:t>
            </a:r>
            <a:endParaRPr lang="en-US" sz="621" dirty="0"/>
          </a:p>
        </p:txBody>
      </p:sp>
      <p:sp>
        <p:nvSpPr>
          <p:cNvPr id="13" name="Text 8"/>
          <p:cNvSpPr/>
          <p:nvPr/>
        </p:nvSpPr>
        <p:spPr>
          <a:xfrm>
            <a:off x="542925" y="3192168"/>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14" name="Text 9"/>
          <p:cNvSpPr/>
          <p:nvPr/>
        </p:nvSpPr>
        <p:spPr>
          <a:xfrm>
            <a:off x="650081" y="3192168"/>
            <a:ext cx="1183714"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Cloud-Native Design Patterns</a:t>
            </a:r>
            <a:endParaRPr lang="en-US" sz="621" dirty="0"/>
          </a:p>
        </p:txBody>
      </p:sp>
      <p:sp>
        <p:nvSpPr>
          <p:cNvPr id="15" name="Text 10"/>
          <p:cNvSpPr/>
          <p:nvPr/>
        </p:nvSpPr>
        <p:spPr>
          <a:xfrm>
            <a:off x="542925" y="3351116"/>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16" name="Text 11"/>
          <p:cNvSpPr/>
          <p:nvPr/>
        </p:nvSpPr>
        <p:spPr>
          <a:xfrm>
            <a:off x="650081" y="3351116"/>
            <a:ext cx="176791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Common repeatable and reusable Solutions</a:t>
            </a:r>
            <a:endParaRPr lang="en-US" sz="621" dirty="0"/>
          </a:p>
        </p:txBody>
      </p:sp>
      <p:sp>
        <p:nvSpPr>
          <p:cNvPr id="17" name="Text 12"/>
          <p:cNvSpPr/>
          <p:nvPr/>
        </p:nvSpPr>
        <p:spPr>
          <a:xfrm>
            <a:off x="542925" y="3510065"/>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18" name="Text 13"/>
          <p:cNvSpPr/>
          <p:nvPr/>
        </p:nvSpPr>
        <p:spPr>
          <a:xfrm>
            <a:off x="650081" y="3510065"/>
            <a:ext cx="1183016"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Automated Migration Tooling</a:t>
            </a:r>
            <a:endParaRPr lang="en-US" sz="621" dirty="0"/>
          </a:p>
        </p:txBody>
      </p:sp>
      <p:sp>
        <p:nvSpPr>
          <p:cNvPr id="19" name="Text 14"/>
          <p:cNvSpPr/>
          <p:nvPr/>
        </p:nvSpPr>
        <p:spPr>
          <a:xfrm>
            <a:off x="542925" y="3669013"/>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20" name="Text 15"/>
          <p:cNvSpPr/>
          <p:nvPr/>
        </p:nvSpPr>
        <p:spPr>
          <a:xfrm>
            <a:off x="650081" y="3669013"/>
            <a:ext cx="1537329"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Observability &amp; Operational Resilience</a:t>
            </a:r>
            <a:endParaRPr lang="en-US" sz="621" dirty="0"/>
          </a:p>
        </p:txBody>
      </p:sp>
      <p:sp>
        <p:nvSpPr>
          <p:cNvPr id="21" name="Shape 16"/>
          <p:cNvSpPr/>
          <p:nvPr/>
        </p:nvSpPr>
        <p:spPr>
          <a:xfrm>
            <a:off x="4164164" y="1100138"/>
            <a:ext cx="815615" cy="173236"/>
          </a:xfrm>
          <a:prstGeom prst="rect">
            <a:avLst/>
          </a:prstGeom>
          <a:solidFill>
            <a:srgbClr val="3182CE"/>
          </a:solidFill>
          <a:ln/>
        </p:spPr>
      </p:sp>
      <p:sp>
        <p:nvSpPr>
          <p:cNvPr id="22" name="Text 17"/>
          <p:cNvSpPr/>
          <p:nvPr/>
        </p:nvSpPr>
        <p:spPr>
          <a:xfrm>
            <a:off x="4164164" y="1100138"/>
            <a:ext cx="815615" cy="173236"/>
          </a:xfrm>
          <a:prstGeom prst="rect">
            <a:avLst/>
          </a:prstGeom>
          <a:noFill/>
          <a:ln/>
        </p:spPr>
        <p:txBody>
          <a:bodyPr wrap="square" lIns="127508" tIns="34036" rIns="127508" bIns="34036" rtlCol="0" anchor="t">
            <a:spAutoFit/>
          </a:bodyPr>
          <a:lstStyle/>
          <a:p>
            <a:pPr algn="l" indent="0" marL="0">
              <a:lnSpc>
                <a:spcPts val="800"/>
              </a:lnSpc>
              <a:buNone/>
            </a:pPr>
            <a:r>
              <a:rPr lang="en-US" sz="584" b="1" dirty="0">
                <a:solidFill>
                  <a:srgbClr val="FFFFFF"/>
                </a:solidFill>
              </a:rPr>
              <a:t>Workstream 2</a:t>
            </a:r>
            <a:endParaRPr lang="en-US" sz="584" dirty="0"/>
          </a:p>
        </p:txBody>
      </p:sp>
      <p:pic>
        <p:nvPicPr>
          <p:cNvPr id="23" name="Image 2" descr="preencoded.png">    </p:cNvPr>
          <p:cNvPicPr>
            <a:picLocks noChangeAspect="1"/>
          </p:cNvPicPr>
          <p:nvPr/>
        </p:nvPicPr>
        <p:blipFill>
          <a:blip r:embed="rId3"/>
          <a:stretch>
            <a:fillRect/>
          </a:stretch>
        </p:blipFill>
        <p:spPr>
          <a:xfrm>
            <a:off x="4446956" y="1526977"/>
            <a:ext cx="250031" cy="285750"/>
          </a:xfrm>
          <a:prstGeom prst="rect">
            <a:avLst/>
          </a:prstGeom>
        </p:spPr>
      </p:pic>
      <p:sp>
        <p:nvSpPr>
          <p:cNvPr id="24" name="Text 18"/>
          <p:cNvSpPr/>
          <p:nvPr/>
        </p:nvSpPr>
        <p:spPr>
          <a:xfrm>
            <a:off x="3547849" y="2003822"/>
            <a:ext cx="2048275" cy="194667"/>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333333"/>
                </a:solidFill>
              </a:rPr>
              <a:t>Vendor-Agnostic Abstraction</a:t>
            </a:r>
            <a:endParaRPr lang="en-US" sz="987" dirty="0"/>
          </a:p>
        </p:txBody>
      </p:sp>
      <p:sp>
        <p:nvSpPr>
          <p:cNvPr id="25" name="Text 19"/>
          <p:cNvSpPr/>
          <p:nvPr/>
        </p:nvSpPr>
        <p:spPr>
          <a:xfrm>
            <a:off x="3352791" y="2305645"/>
            <a:ext cx="2438391" cy="390032"/>
          </a:xfrm>
          <a:prstGeom prst="rect">
            <a:avLst/>
          </a:prstGeom>
          <a:noFill/>
          <a:ln/>
        </p:spPr>
        <p:txBody>
          <a:bodyPr wrap="square" lIns="0" tIns="0" rIns="0" bIns="0" rtlCol="0" anchor="t">
            <a:spAutoFit/>
          </a:bodyPr>
          <a:lstStyle/>
          <a:p>
            <a:pPr algn="ctr" indent="0" marL="0">
              <a:lnSpc>
                <a:spcPts val="1000"/>
              </a:lnSpc>
              <a:buNone/>
            </a:pPr>
            <a:r>
              <a:rPr lang="en-US" sz="674" dirty="0">
                <a:solidFill>
                  <a:srgbClr val="555555"/>
                </a:solidFill>
              </a:rPr>
              <a:t>Eliminate vendor-specific database features and replace them with database-neutral alternatives to enhance portability and flexibility.</a:t>
            </a:r>
            <a:endParaRPr lang="en-US" sz="674" dirty="0"/>
          </a:p>
        </p:txBody>
      </p:sp>
      <p:sp>
        <p:nvSpPr>
          <p:cNvPr id="26" name="Text 20"/>
          <p:cNvSpPr/>
          <p:nvPr/>
        </p:nvSpPr>
        <p:spPr>
          <a:xfrm>
            <a:off x="3352791" y="2838552"/>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27" name="Text 21"/>
          <p:cNvSpPr/>
          <p:nvPr/>
        </p:nvSpPr>
        <p:spPr>
          <a:xfrm>
            <a:off x="3459947" y="2838552"/>
            <a:ext cx="1528930"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Proprietary Feature Decommissioning</a:t>
            </a:r>
            <a:endParaRPr lang="en-US" sz="621" dirty="0"/>
          </a:p>
        </p:txBody>
      </p:sp>
      <p:sp>
        <p:nvSpPr>
          <p:cNvPr id="28" name="Text 22"/>
          <p:cNvSpPr/>
          <p:nvPr/>
        </p:nvSpPr>
        <p:spPr>
          <a:xfrm>
            <a:off x="3567103" y="2954638"/>
            <a:ext cx="2224078" cy="107156"/>
          </a:xfrm>
          <a:prstGeom prst="rect">
            <a:avLst/>
          </a:prstGeom>
          <a:noFill/>
          <a:ln/>
        </p:spPr>
        <p:txBody>
          <a:bodyPr wrap="none" lIns="0" tIns="0" rIns="0" bIns="0" rtlCol="0" anchor="t">
            <a:spAutoFit/>
          </a:bodyPr>
          <a:lstStyle/>
          <a:p>
            <a:pPr algn="l" indent="0" marL="0">
              <a:lnSpc>
                <a:spcPts val="700"/>
              </a:lnSpc>
              <a:buNone/>
            </a:pPr>
            <a:r>
              <a:rPr lang="en-US" sz="568" dirty="0">
                <a:solidFill>
                  <a:srgbClr val="666666"/>
                </a:solidFill>
              </a:rPr>
              <a:t>• VPD (Virtual Private Database)</a:t>
            </a:r>
            <a:endParaRPr lang="en-US" sz="568" dirty="0"/>
          </a:p>
        </p:txBody>
      </p:sp>
      <p:sp>
        <p:nvSpPr>
          <p:cNvPr id="29" name="Text 23"/>
          <p:cNvSpPr/>
          <p:nvPr/>
        </p:nvSpPr>
        <p:spPr>
          <a:xfrm>
            <a:off x="3567103" y="3061795"/>
            <a:ext cx="2224078" cy="107156"/>
          </a:xfrm>
          <a:prstGeom prst="rect">
            <a:avLst/>
          </a:prstGeom>
          <a:noFill/>
          <a:ln/>
        </p:spPr>
        <p:txBody>
          <a:bodyPr wrap="none" lIns="0" tIns="0" rIns="0" bIns="0" rtlCol="0" anchor="t">
            <a:spAutoFit/>
          </a:bodyPr>
          <a:lstStyle/>
          <a:p>
            <a:pPr algn="l" indent="0" marL="0">
              <a:lnSpc>
                <a:spcPts val="700"/>
              </a:lnSpc>
              <a:buNone/>
            </a:pPr>
            <a:r>
              <a:rPr lang="en-US" sz="568" dirty="0">
                <a:solidFill>
                  <a:srgbClr val="666666"/>
                </a:solidFill>
              </a:rPr>
              <a:t>• Advanced Queues</a:t>
            </a:r>
            <a:endParaRPr lang="en-US" sz="568" dirty="0"/>
          </a:p>
        </p:txBody>
      </p:sp>
      <p:sp>
        <p:nvSpPr>
          <p:cNvPr id="30" name="Text 24"/>
          <p:cNvSpPr/>
          <p:nvPr/>
        </p:nvSpPr>
        <p:spPr>
          <a:xfrm>
            <a:off x="3352791" y="3211813"/>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31" name="Text 25"/>
          <p:cNvSpPr/>
          <p:nvPr/>
        </p:nvSpPr>
        <p:spPr>
          <a:xfrm>
            <a:off x="3459947" y="3211813"/>
            <a:ext cx="1570593"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Schema Decoupling &amp; Logic Offloading</a:t>
            </a:r>
            <a:endParaRPr lang="en-US" sz="621" dirty="0"/>
          </a:p>
        </p:txBody>
      </p:sp>
      <p:sp>
        <p:nvSpPr>
          <p:cNvPr id="32" name="Text 26"/>
          <p:cNvSpPr/>
          <p:nvPr/>
        </p:nvSpPr>
        <p:spPr>
          <a:xfrm>
            <a:off x="3567103" y="3327899"/>
            <a:ext cx="2224078" cy="107156"/>
          </a:xfrm>
          <a:prstGeom prst="rect">
            <a:avLst/>
          </a:prstGeom>
          <a:noFill/>
          <a:ln/>
        </p:spPr>
        <p:txBody>
          <a:bodyPr wrap="none" lIns="0" tIns="0" rIns="0" bIns="0" rtlCol="0" anchor="t">
            <a:spAutoFit/>
          </a:bodyPr>
          <a:lstStyle/>
          <a:p>
            <a:pPr algn="l" indent="0" marL="0">
              <a:lnSpc>
                <a:spcPts val="700"/>
              </a:lnSpc>
              <a:buNone/>
            </a:pPr>
            <a:r>
              <a:rPr lang="en-US" sz="568" dirty="0">
                <a:solidFill>
                  <a:srgbClr val="666666"/>
                </a:solidFill>
              </a:rPr>
              <a:t>• Stored Procedures</a:t>
            </a:r>
            <a:endParaRPr lang="en-US" sz="568" dirty="0"/>
          </a:p>
        </p:txBody>
      </p:sp>
      <p:sp>
        <p:nvSpPr>
          <p:cNvPr id="33" name="Text 27"/>
          <p:cNvSpPr/>
          <p:nvPr/>
        </p:nvSpPr>
        <p:spPr>
          <a:xfrm>
            <a:off x="3567103" y="3435055"/>
            <a:ext cx="2224078" cy="107156"/>
          </a:xfrm>
          <a:prstGeom prst="rect">
            <a:avLst/>
          </a:prstGeom>
          <a:noFill/>
          <a:ln/>
        </p:spPr>
        <p:txBody>
          <a:bodyPr wrap="none" lIns="0" tIns="0" rIns="0" bIns="0" rtlCol="0" anchor="t">
            <a:spAutoFit/>
          </a:bodyPr>
          <a:lstStyle/>
          <a:p>
            <a:pPr algn="l" indent="0" marL="0">
              <a:lnSpc>
                <a:spcPts val="700"/>
              </a:lnSpc>
              <a:buNone/>
            </a:pPr>
            <a:r>
              <a:rPr lang="en-US" sz="568" dirty="0">
                <a:solidFill>
                  <a:srgbClr val="666666"/>
                </a:solidFill>
              </a:rPr>
              <a:t>• Triggers &amp; Business Logic</a:t>
            </a:r>
            <a:endParaRPr lang="en-US" sz="568" dirty="0"/>
          </a:p>
        </p:txBody>
      </p:sp>
      <p:sp>
        <p:nvSpPr>
          <p:cNvPr id="34" name="Shape 28"/>
          <p:cNvSpPr/>
          <p:nvPr/>
        </p:nvSpPr>
        <p:spPr>
          <a:xfrm>
            <a:off x="6974030" y="1100138"/>
            <a:ext cx="815615" cy="173236"/>
          </a:xfrm>
          <a:prstGeom prst="rect">
            <a:avLst/>
          </a:prstGeom>
          <a:solidFill>
            <a:srgbClr val="3182CE"/>
          </a:solidFill>
          <a:ln/>
        </p:spPr>
      </p:sp>
      <p:sp>
        <p:nvSpPr>
          <p:cNvPr id="35" name="Text 29"/>
          <p:cNvSpPr/>
          <p:nvPr/>
        </p:nvSpPr>
        <p:spPr>
          <a:xfrm>
            <a:off x="6974030" y="1100138"/>
            <a:ext cx="815615" cy="173236"/>
          </a:xfrm>
          <a:prstGeom prst="rect">
            <a:avLst/>
          </a:prstGeom>
          <a:noFill/>
          <a:ln/>
        </p:spPr>
        <p:txBody>
          <a:bodyPr wrap="square" lIns="127508" tIns="34036" rIns="127508" bIns="34036" rtlCol="0" anchor="t">
            <a:spAutoFit/>
          </a:bodyPr>
          <a:lstStyle/>
          <a:p>
            <a:pPr algn="l" indent="0" marL="0">
              <a:lnSpc>
                <a:spcPts val="800"/>
              </a:lnSpc>
              <a:buNone/>
            </a:pPr>
            <a:r>
              <a:rPr lang="en-US" sz="584" b="1" dirty="0">
                <a:solidFill>
                  <a:srgbClr val="FFFFFF"/>
                </a:solidFill>
              </a:rPr>
              <a:t>Workstream 3</a:t>
            </a:r>
            <a:endParaRPr lang="en-US" sz="584" dirty="0"/>
          </a:p>
        </p:txBody>
      </p:sp>
      <p:pic>
        <p:nvPicPr>
          <p:cNvPr id="36" name="Image 3" descr="preencoded.png">    </p:cNvPr>
          <p:cNvPicPr>
            <a:picLocks noChangeAspect="1"/>
          </p:cNvPicPr>
          <p:nvPr/>
        </p:nvPicPr>
        <p:blipFill>
          <a:blip r:embed="rId4"/>
          <a:stretch>
            <a:fillRect/>
          </a:stretch>
        </p:blipFill>
        <p:spPr>
          <a:xfrm>
            <a:off x="7238963" y="1526977"/>
            <a:ext cx="285750" cy="285750"/>
          </a:xfrm>
          <a:prstGeom prst="rect">
            <a:avLst/>
          </a:prstGeom>
        </p:spPr>
      </p:pic>
      <p:sp>
        <p:nvSpPr>
          <p:cNvPr id="37" name="Text 30"/>
          <p:cNvSpPr/>
          <p:nvPr/>
        </p:nvSpPr>
        <p:spPr>
          <a:xfrm>
            <a:off x="6162656" y="2003822"/>
            <a:ext cx="2438391" cy="389334"/>
          </a:xfrm>
          <a:prstGeom prst="rect">
            <a:avLst/>
          </a:prstGeom>
          <a:noFill/>
          <a:ln/>
        </p:spPr>
        <p:txBody>
          <a:bodyPr wrap="square" lIns="0" tIns="0" rIns="0" bIns="0" rtlCol="0" anchor="t">
            <a:spAutoFit/>
          </a:bodyPr>
          <a:lstStyle/>
          <a:p>
            <a:pPr algn="ctr" indent="0" marL="0">
              <a:lnSpc>
                <a:spcPts val="1400"/>
              </a:lnSpc>
              <a:buNone/>
            </a:pPr>
            <a:r>
              <a:rPr lang="en-US" sz="987" b="1" dirty="0">
                <a:solidFill>
                  <a:srgbClr val="333333"/>
                </a:solidFill>
              </a:rPr>
              <a:t>Continuous Modernization &amp; Optimization</a:t>
            </a:r>
            <a:endParaRPr lang="en-US" sz="987" dirty="0"/>
          </a:p>
        </p:txBody>
      </p:sp>
      <p:sp>
        <p:nvSpPr>
          <p:cNvPr id="38" name="Text 31"/>
          <p:cNvSpPr/>
          <p:nvPr/>
        </p:nvSpPr>
        <p:spPr>
          <a:xfrm>
            <a:off x="6162656" y="2500313"/>
            <a:ext cx="2438391" cy="390032"/>
          </a:xfrm>
          <a:prstGeom prst="rect">
            <a:avLst/>
          </a:prstGeom>
          <a:noFill/>
          <a:ln/>
        </p:spPr>
        <p:txBody>
          <a:bodyPr wrap="square" lIns="0" tIns="0" rIns="0" bIns="0" rtlCol="0" anchor="t">
            <a:spAutoFit/>
          </a:bodyPr>
          <a:lstStyle/>
          <a:p>
            <a:pPr algn="ctr" indent="0" marL="0">
              <a:lnSpc>
                <a:spcPts val="1000"/>
              </a:lnSpc>
              <a:buNone/>
            </a:pPr>
            <a:r>
              <a:rPr lang="en-US" sz="674" dirty="0">
                <a:solidFill>
                  <a:srgbClr val="555555"/>
                </a:solidFill>
              </a:rPr>
              <a:t>Achieve full standardization by redesigning or replacing inefficient legacy processes with modern, optimized cloud-native workflows.</a:t>
            </a:r>
            <a:endParaRPr lang="en-US" sz="674" dirty="0"/>
          </a:p>
        </p:txBody>
      </p:sp>
      <p:sp>
        <p:nvSpPr>
          <p:cNvPr id="39" name="Text 32"/>
          <p:cNvSpPr/>
          <p:nvPr/>
        </p:nvSpPr>
        <p:spPr>
          <a:xfrm>
            <a:off x="6162656" y="3033220"/>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40" name="Text 33"/>
          <p:cNvSpPr/>
          <p:nvPr/>
        </p:nvSpPr>
        <p:spPr>
          <a:xfrm>
            <a:off x="6269813" y="3033220"/>
            <a:ext cx="163282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OLTP Performance Tuning &amp; Right-sizing</a:t>
            </a:r>
            <a:endParaRPr lang="en-US" sz="621" dirty="0"/>
          </a:p>
        </p:txBody>
      </p:sp>
      <p:sp>
        <p:nvSpPr>
          <p:cNvPr id="41" name="Text 34"/>
          <p:cNvSpPr/>
          <p:nvPr/>
        </p:nvSpPr>
        <p:spPr>
          <a:xfrm>
            <a:off x="6162656" y="3192168"/>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42" name="Text 35"/>
          <p:cNvSpPr/>
          <p:nvPr/>
        </p:nvSpPr>
        <p:spPr>
          <a:xfrm>
            <a:off x="6269813" y="3192168"/>
            <a:ext cx="1559012"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Polyglot Persistence &amp; Data Offloading</a:t>
            </a:r>
            <a:endParaRPr lang="en-US" sz="621" dirty="0"/>
          </a:p>
        </p:txBody>
      </p:sp>
      <p:sp>
        <p:nvSpPr>
          <p:cNvPr id="43" name="Text 36"/>
          <p:cNvSpPr/>
          <p:nvPr/>
        </p:nvSpPr>
        <p:spPr>
          <a:xfrm>
            <a:off x="6162656" y="3351116"/>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44" name="Text 37"/>
          <p:cNvSpPr/>
          <p:nvPr/>
        </p:nvSpPr>
        <p:spPr>
          <a:xfrm>
            <a:off x="6269813" y="3351116"/>
            <a:ext cx="1362615"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Standardize app specific solutions</a:t>
            </a:r>
            <a:endParaRPr lang="en-US" sz="621" dirty="0"/>
          </a:p>
        </p:txBody>
      </p:sp>
      <p:sp>
        <p:nvSpPr>
          <p:cNvPr id="45" name="Text 38"/>
          <p:cNvSpPr/>
          <p:nvPr/>
        </p:nvSpPr>
        <p:spPr>
          <a:xfrm>
            <a:off x="6162656" y="3510065"/>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46" name="Text 39"/>
          <p:cNvSpPr/>
          <p:nvPr/>
        </p:nvSpPr>
        <p:spPr>
          <a:xfrm>
            <a:off x="6269813" y="3510065"/>
            <a:ext cx="1375032"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Data Lifecycle Management (DLM)</a:t>
            </a:r>
            <a:endParaRPr lang="en-US" sz="621" dirty="0"/>
          </a:p>
        </p:txBody>
      </p:sp>
      <p:sp>
        <p:nvSpPr>
          <p:cNvPr id="47" name="Shape 40"/>
          <p:cNvSpPr/>
          <p:nvPr/>
        </p:nvSpPr>
        <p:spPr>
          <a:xfrm>
            <a:off x="428625" y="4192293"/>
            <a:ext cx="8286750" cy="741164"/>
          </a:xfrm>
          <a:prstGeom prst="rect">
            <a:avLst/>
          </a:prstGeom>
          <a:solidFill>
            <a:srgbClr val="000000">
              <a:alpha val="0"/>
            </a:srgbClr>
          </a:solidFill>
          <a:ln/>
        </p:spPr>
      </p:sp>
      <p:sp>
        <p:nvSpPr>
          <p:cNvPr id="48" name="Shape 41"/>
          <p:cNvSpPr/>
          <p:nvPr/>
        </p:nvSpPr>
        <p:spPr>
          <a:xfrm>
            <a:off x="428625" y="4192293"/>
            <a:ext cx="8286750" cy="7144"/>
          </a:xfrm>
          <a:prstGeom prst="rect">
            <a:avLst/>
          </a:prstGeom>
          <a:solidFill>
            <a:srgbClr val="EEEEEE"/>
          </a:solidFill>
          <a:ln/>
        </p:spPr>
      </p:sp>
      <p:sp>
        <p:nvSpPr>
          <p:cNvPr id="49" name="Text 42"/>
          <p:cNvSpPr/>
          <p:nvPr/>
        </p:nvSpPr>
        <p:spPr>
          <a:xfrm>
            <a:off x="428625" y="4299449"/>
            <a:ext cx="828675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33333"/>
                </a:solidFill>
              </a:rPr>
              <a:t>How can we accomplish this:</a:t>
            </a:r>
            <a:endParaRPr lang="en-US" sz="683" dirty="0"/>
          </a:p>
        </p:txBody>
      </p:sp>
      <p:sp>
        <p:nvSpPr>
          <p:cNvPr id="50" name="Text 43"/>
          <p:cNvSpPr/>
          <p:nvPr/>
        </p:nvSpPr>
        <p:spPr>
          <a:xfrm>
            <a:off x="428625" y="4492330"/>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51" name="Text 44"/>
          <p:cNvSpPr/>
          <p:nvPr/>
        </p:nvSpPr>
        <p:spPr>
          <a:xfrm>
            <a:off x="535781" y="4492330"/>
            <a:ext cx="2178732"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33333"/>
                </a:solidFill>
              </a:rPr>
              <a:t>DB team needs to upskill across all Database concepts</a:t>
            </a:r>
            <a:endParaRPr lang="en-US" sz="621" dirty="0"/>
          </a:p>
        </p:txBody>
      </p:sp>
      <p:sp>
        <p:nvSpPr>
          <p:cNvPr id="52" name="Text 45"/>
          <p:cNvSpPr/>
          <p:nvPr/>
        </p:nvSpPr>
        <p:spPr>
          <a:xfrm>
            <a:off x="428625" y="4636991"/>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53" name="Text 46"/>
          <p:cNvSpPr/>
          <p:nvPr/>
        </p:nvSpPr>
        <p:spPr>
          <a:xfrm>
            <a:off x="535781" y="4636991"/>
            <a:ext cx="3331806"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33333"/>
                </a:solidFill>
              </a:rPr>
              <a:t>App teams must prioritize reducing DB code dependency and support all initiatives</a:t>
            </a:r>
            <a:endParaRPr lang="en-US" sz="621" dirty="0"/>
          </a:p>
        </p:txBody>
      </p:sp>
      <p:sp>
        <p:nvSpPr>
          <p:cNvPr id="54" name="Text 47"/>
          <p:cNvSpPr/>
          <p:nvPr/>
        </p:nvSpPr>
        <p:spPr>
          <a:xfrm>
            <a:off x="428625" y="4781652"/>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55" name="Text 48"/>
          <p:cNvSpPr/>
          <p:nvPr/>
        </p:nvSpPr>
        <p:spPr>
          <a:xfrm>
            <a:off x="535781" y="4781652"/>
            <a:ext cx="3157258"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33333"/>
                </a:solidFill>
              </a:rPr>
              <a:t>Central Teams must enable the solutions to support DR, HA and DB Migrations</a:t>
            </a:r>
            <a:endParaRPr lang="en-US" sz="62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0" y="142875"/>
            <a:ext cx="9144000" cy="389334"/>
          </a:xfrm>
          <a:prstGeom prst="rect">
            <a:avLst/>
          </a:prstGeom>
          <a:noFill/>
          <a:ln/>
        </p:spPr>
        <p:txBody>
          <a:bodyPr wrap="none" lIns="0" tIns="0" rIns="0" bIns="0" rtlCol="0" anchor="t">
            <a:spAutoFit/>
          </a:bodyPr>
          <a:lstStyle/>
          <a:p>
            <a:pPr algn="ctr" indent="0" marL="0">
              <a:lnSpc>
                <a:spcPts val="2700"/>
              </a:lnSpc>
              <a:buNone/>
            </a:pPr>
            <a:r>
              <a:rPr lang="en-US" sz="2016" b="1" dirty="0">
                <a:solidFill>
                  <a:srgbClr val="1A202C"/>
                </a:solidFill>
              </a:rPr>
              <a:t>Application Migration Paths</a:t>
            </a:r>
            <a:endParaRPr lang="en-US" sz="2016" dirty="0"/>
          </a:p>
        </p:txBody>
      </p:sp>
      <p:sp>
        <p:nvSpPr>
          <p:cNvPr id="5" name="Text 1"/>
          <p:cNvSpPr/>
          <p:nvPr/>
        </p:nvSpPr>
        <p:spPr>
          <a:xfrm>
            <a:off x="0" y="567928"/>
            <a:ext cx="9144000" cy="214313"/>
          </a:xfrm>
          <a:prstGeom prst="rect">
            <a:avLst/>
          </a:prstGeom>
          <a:noFill/>
          <a:ln/>
        </p:spPr>
        <p:txBody>
          <a:bodyPr wrap="none" lIns="0" tIns="0" rIns="0" bIns="0" rtlCol="0" anchor="t">
            <a:spAutoFit/>
          </a:bodyPr>
          <a:lstStyle/>
          <a:p>
            <a:pPr algn="ctr" indent="0" marL="0">
              <a:lnSpc>
                <a:spcPts val="1500"/>
              </a:lnSpc>
              <a:buNone/>
            </a:pPr>
            <a:r>
              <a:rPr lang="en-US" sz="1159" dirty="0">
                <a:solidFill>
                  <a:srgbClr val="4A5568"/>
                </a:solidFill>
              </a:rPr>
              <a:t>Availability &amp; Data Protection Evolution (RTO/RPO)</a:t>
            </a:r>
            <a:endParaRPr lang="en-US" sz="1159" dirty="0"/>
          </a:p>
        </p:txBody>
      </p:sp>
      <p:sp>
        <p:nvSpPr>
          <p:cNvPr id="6" name="Shape 2"/>
          <p:cNvSpPr/>
          <p:nvPr/>
        </p:nvSpPr>
        <p:spPr>
          <a:xfrm>
            <a:off x="214313" y="825103"/>
            <a:ext cx="8715375" cy="895452"/>
          </a:xfrm>
          <a:prstGeom prst="rect">
            <a:avLst/>
          </a:prstGeom>
          <a:solidFill>
            <a:srgbClr val="F8F9FA"/>
          </a:solidFill>
          <a:ln w="9144">
            <a:solidFill>
              <a:srgbClr val="E2E8F0"/>
            </a:solidFill>
            <a:prstDash val="solid"/>
          </a:ln>
        </p:spPr>
      </p:sp>
      <p:sp>
        <p:nvSpPr>
          <p:cNvPr id="7" name="Text 3"/>
          <p:cNvSpPr/>
          <p:nvPr/>
        </p:nvSpPr>
        <p:spPr>
          <a:xfrm>
            <a:off x="328613" y="1168338"/>
            <a:ext cx="642938"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3182CE"/>
                </a:solidFill>
              </a:rPr>
              <a:t>APP 1</a:t>
            </a:r>
            <a:endParaRPr lang="en-US" sz="987" dirty="0"/>
          </a:p>
        </p:txBody>
      </p:sp>
      <p:sp>
        <p:nvSpPr>
          <p:cNvPr id="8" name="Shape 4"/>
          <p:cNvSpPr/>
          <p:nvPr/>
        </p:nvSpPr>
        <p:spPr>
          <a:xfrm>
            <a:off x="1785938" y="939403"/>
            <a:ext cx="342900" cy="342900"/>
          </a:xfrm>
          <a:prstGeom prst="rect">
            <a:avLst/>
          </a:prstGeom>
          <a:solidFill>
            <a:srgbClr val="FFFFFF"/>
          </a:solidFill>
          <a:ln w="9144">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1882378" y="1025128"/>
            <a:ext cx="150019" cy="171450"/>
          </a:xfrm>
          <a:prstGeom prst="rect">
            <a:avLst/>
          </a:prstGeom>
        </p:spPr>
      </p:pic>
      <p:sp>
        <p:nvSpPr>
          <p:cNvPr id="10" name="Text 5"/>
          <p:cNvSpPr/>
          <p:nvPr/>
        </p:nvSpPr>
        <p:spPr>
          <a:xfrm>
            <a:off x="1519275" y="1325166"/>
            <a:ext cx="876226"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Oracle RDS (Single)</a:t>
            </a:r>
            <a:endParaRPr lang="en-US" sz="634" dirty="0"/>
          </a:p>
        </p:txBody>
      </p:sp>
      <p:sp>
        <p:nvSpPr>
          <p:cNvPr id="11" name="Shape 6"/>
          <p:cNvSpPr/>
          <p:nvPr/>
        </p:nvSpPr>
        <p:spPr>
          <a:xfrm>
            <a:off x="1487128" y="1465166"/>
            <a:ext cx="940519" cy="126802"/>
          </a:xfrm>
          <a:prstGeom prst="rect">
            <a:avLst/>
          </a:prstGeom>
          <a:solidFill>
            <a:srgbClr val="EDF2F7"/>
          </a:solidFill>
          <a:ln/>
        </p:spPr>
      </p:sp>
      <p:sp>
        <p:nvSpPr>
          <p:cNvPr id="12" name="Text 7"/>
          <p:cNvSpPr/>
          <p:nvPr/>
        </p:nvSpPr>
        <p:spPr>
          <a:xfrm>
            <a:off x="1544278" y="1479454"/>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13" name="Text 8"/>
          <p:cNvSpPr/>
          <p:nvPr/>
        </p:nvSpPr>
        <p:spPr>
          <a:xfrm>
            <a:off x="1765734" y="1479454"/>
            <a:ext cx="19254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4-24h</a:t>
            </a:r>
            <a:endParaRPr lang="en-US" sz="485" dirty="0"/>
          </a:p>
        </p:txBody>
      </p:sp>
      <p:sp>
        <p:nvSpPr>
          <p:cNvPr id="14" name="Text 9"/>
          <p:cNvSpPr/>
          <p:nvPr/>
        </p:nvSpPr>
        <p:spPr>
          <a:xfrm>
            <a:off x="2015430" y="1479454"/>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15" name="Text 10"/>
          <p:cNvSpPr/>
          <p:nvPr/>
        </p:nvSpPr>
        <p:spPr>
          <a:xfrm>
            <a:off x="2241826" y="1479454"/>
            <a:ext cx="128671"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1h+</a:t>
            </a:r>
            <a:endParaRPr lang="en-US" sz="485" dirty="0"/>
          </a:p>
        </p:txBody>
      </p:sp>
      <p:pic>
        <p:nvPicPr>
          <p:cNvPr id="16" name="Image 2" descr="preencoded.png">    </p:cNvPr>
          <p:cNvPicPr>
            <a:picLocks noChangeAspect="1"/>
          </p:cNvPicPr>
          <p:nvPr/>
        </p:nvPicPr>
        <p:blipFill>
          <a:blip r:embed="rId3"/>
          <a:stretch>
            <a:fillRect/>
          </a:stretch>
        </p:blipFill>
        <p:spPr>
          <a:xfrm>
            <a:off x="2917329" y="1201378"/>
            <a:ext cx="80367" cy="128588"/>
          </a:xfrm>
          <a:prstGeom prst="rect">
            <a:avLst/>
          </a:prstGeom>
        </p:spPr>
      </p:pic>
      <p:sp>
        <p:nvSpPr>
          <p:cNvPr id="17" name="Shape 11"/>
          <p:cNvSpPr/>
          <p:nvPr/>
        </p:nvSpPr>
        <p:spPr>
          <a:xfrm>
            <a:off x="3786188" y="939403"/>
            <a:ext cx="342900" cy="342900"/>
          </a:xfrm>
          <a:prstGeom prst="rect">
            <a:avLst/>
          </a:prstGeom>
          <a:solidFill>
            <a:srgbClr val="FFFFFF"/>
          </a:solidFill>
          <a:ln w="9144">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3893344" y="1025128"/>
            <a:ext cx="128588" cy="171450"/>
          </a:xfrm>
          <a:prstGeom prst="rect">
            <a:avLst/>
          </a:prstGeom>
        </p:spPr>
      </p:pic>
      <p:sp>
        <p:nvSpPr>
          <p:cNvPr id="19" name="Text 12"/>
          <p:cNvSpPr/>
          <p:nvPr/>
        </p:nvSpPr>
        <p:spPr>
          <a:xfrm>
            <a:off x="3559680" y="1325166"/>
            <a:ext cx="795886"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Active-Pilot Light</a:t>
            </a:r>
            <a:endParaRPr lang="en-US" sz="634" dirty="0"/>
          </a:p>
        </p:txBody>
      </p:sp>
      <p:sp>
        <p:nvSpPr>
          <p:cNvPr id="20" name="Shape 13"/>
          <p:cNvSpPr/>
          <p:nvPr/>
        </p:nvSpPr>
        <p:spPr>
          <a:xfrm>
            <a:off x="3487266" y="1465166"/>
            <a:ext cx="940715" cy="126802"/>
          </a:xfrm>
          <a:prstGeom prst="rect">
            <a:avLst/>
          </a:prstGeom>
          <a:solidFill>
            <a:srgbClr val="EDF2F7"/>
          </a:solidFill>
          <a:ln/>
        </p:spPr>
      </p:sp>
      <p:sp>
        <p:nvSpPr>
          <p:cNvPr id="21" name="Text 14"/>
          <p:cNvSpPr/>
          <p:nvPr/>
        </p:nvSpPr>
        <p:spPr>
          <a:xfrm>
            <a:off x="3544416" y="1479454"/>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22" name="Text 15"/>
          <p:cNvSpPr/>
          <p:nvPr/>
        </p:nvSpPr>
        <p:spPr>
          <a:xfrm>
            <a:off x="3765872" y="1479454"/>
            <a:ext cx="128671"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&lt;1h</a:t>
            </a:r>
            <a:endParaRPr lang="en-US" sz="485" dirty="0"/>
          </a:p>
        </p:txBody>
      </p:sp>
      <p:sp>
        <p:nvSpPr>
          <p:cNvPr id="23" name="Text 16"/>
          <p:cNvSpPr/>
          <p:nvPr/>
        </p:nvSpPr>
        <p:spPr>
          <a:xfrm>
            <a:off x="3951694" y="1479454"/>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24" name="Text 17"/>
          <p:cNvSpPr/>
          <p:nvPr/>
        </p:nvSpPr>
        <p:spPr>
          <a:xfrm>
            <a:off x="4178089" y="1479454"/>
            <a:ext cx="192742"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&lt;15m</a:t>
            </a:r>
            <a:endParaRPr lang="en-US" sz="485" dirty="0"/>
          </a:p>
        </p:txBody>
      </p:sp>
      <p:pic>
        <p:nvPicPr>
          <p:cNvPr id="25" name="Image 4" descr="preencoded.png">    </p:cNvPr>
          <p:cNvPicPr>
            <a:picLocks noChangeAspect="1"/>
          </p:cNvPicPr>
          <p:nvPr/>
        </p:nvPicPr>
        <p:blipFill>
          <a:blip r:embed="rId5"/>
          <a:stretch>
            <a:fillRect/>
          </a:stretch>
        </p:blipFill>
        <p:spPr>
          <a:xfrm>
            <a:off x="4917579" y="1201378"/>
            <a:ext cx="80367" cy="128588"/>
          </a:xfrm>
          <a:prstGeom prst="rect">
            <a:avLst/>
          </a:prstGeom>
        </p:spPr>
      </p:pic>
      <p:sp>
        <p:nvSpPr>
          <p:cNvPr id="26" name="Shape 18"/>
          <p:cNvSpPr/>
          <p:nvPr/>
        </p:nvSpPr>
        <p:spPr>
          <a:xfrm>
            <a:off x="5786438" y="939403"/>
            <a:ext cx="342900" cy="342900"/>
          </a:xfrm>
          <a:prstGeom prst="rect">
            <a:avLst/>
          </a:prstGeom>
          <a:solidFill>
            <a:srgbClr val="FFFFFF"/>
          </a:solidFill>
          <a:ln w="9144">
            <a:solidFill>
              <a:srgbClr val="E2E8F0"/>
            </a:solidFill>
            <a:prstDash val="solid"/>
          </a:ln>
        </p:spPr>
      </p:sp>
      <p:pic>
        <p:nvPicPr>
          <p:cNvPr id="27" name="Image 5" descr="preencoded.png">    </p:cNvPr>
          <p:cNvPicPr>
            <a:picLocks noChangeAspect="1"/>
          </p:cNvPicPr>
          <p:nvPr/>
        </p:nvPicPr>
        <p:blipFill>
          <a:blip r:embed="rId6"/>
          <a:stretch>
            <a:fillRect/>
          </a:stretch>
        </p:blipFill>
        <p:spPr>
          <a:xfrm>
            <a:off x="5872163" y="1025128"/>
            <a:ext cx="171450" cy="171450"/>
          </a:xfrm>
          <a:prstGeom prst="rect">
            <a:avLst/>
          </a:prstGeom>
        </p:spPr>
      </p:pic>
      <p:sp>
        <p:nvSpPr>
          <p:cNvPr id="28" name="Text 19"/>
          <p:cNvSpPr/>
          <p:nvPr/>
        </p:nvSpPr>
        <p:spPr>
          <a:xfrm>
            <a:off x="5529039" y="1325166"/>
            <a:ext cx="857669"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Active-Active (EC2)</a:t>
            </a:r>
            <a:endParaRPr lang="en-US" sz="634" dirty="0"/>
          </a:p>
        </p:txBody>
      </p:sp>
      <p:sp>
        <p:nvSpPr>
          <p:cNvPr id="29" name="Shape 20"/>
          <p:cNvSpPr/>
          <p:nvPr/>
        </p:nvSpPr>
        <p:spPr>
          <a:xfrm>
            <a:off x="5496334" y="1465166"/>
            <a:ext cx="923079" cy="126802"/>
          </a:xfrm>
          <a:prstGeom prst="rect">
            <a:avLst/>
          </a:prstGeom>
          <a:solidFill>
            <a:srgbClr val="EDF2F7"/>
          </a:solidFill>
          <a:ln/>
        </p:spPr>
      </p:sp>
      <p:sp>
        <p:nvSpPr>
          <p:cNvPr id="30" name="Text 21"/>
          <p:cNvSpPr/>
          <p:nvPr/>
        </p:nvSpPr>
        <p:spPr>
          <a:xfrm>
            <a:off x="5553484" y="1479454"/>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31" name="Text 22"/>
          <p:cNvSpPr/>
          <p:nvPr/>
        </p:nvSpPr>
        <p:spPr>
          <a:xfrm>
            <a:off x="5774941" y="1479454"/>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&lt;5m</a:t>
            </a:r>
            <a:endParaRPr lang="en-US" sz="485" dirty="0"/>
          </a:p>
        </p:txBody>
      </p:sp>
      <p:sp>
        <p:nvSpPr>
          <p:cNvPr id="32" name="Text 23"/>
          <p:cNvSpPr/>
          <p:nvPr/>
        </p:nvSpPr>
        <p:spPr>
          <a:xfrm>
            <a:off x="5983979" y="1479454"/>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33" name="Text 24"/>
          <p:cNvSpPr/>
          <p:nvPr/>
        </p:nvSpPr>
        <p:spPr>
          <a:xfrm>
            <a:off x="6210374" y="1479454"/>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&lt;1m</a:t>
            </a:r>
            <a:endParaRPr lang="en-US" sz="485" dirty="0"/>
          </a:p>
        </p:txBody>
      </p:sp>
      <p:pic>
        <p:nvPicPr>
          <p:cNvPr id="34" name="Image 6" descr="preencoded.png">    </p:cNvPr>
          <p:cNvPicPr>
            <a:picLocks noChangeAspect="1"/>
          </p:cNvPicPr>
          <p:nvPr/>
        </p:nvPicPr>
        <p:blipFill>
          <a:blip r:embed="rId7"/>
          <a:stretch>
            <a:fillRect/>
          </a:stretch>
        </p:blipFill>
        <p:spPr>
          <a:xfrm>
            <a:off x="6917829" y="1201378"/>
            <a:ext cx="80367" cy="128588"/>
          </a:xfrm>
          <a:prstGeom prst="rect">
            <a:avLst/>
          </a:prstGeom>
        </p:spPr>
      </p:pic>
      <p:sp>
        <p:nvSpPr>
          <p:cNvPr id="35" name="Shape 25"/>
          <p:cNvSpPr/>
          <p:nvPr/>
        </p:nvSpPr>
        <p:spPr>
          <a:xfrm>
            <a:off x="7100888" y="867966"/>
            <a:ext cx="1714500" cy="795440"/>
          </a:xfrm>
          <a:prstGeom prst="rect">
            <a:avLst/>
          </a:prstGeom>
          <a:solidFill>
            <a:srgbClr val="EBF8FF"/>
          </a:solidFill>
          <a:ln w="18288">
            <a:solidFill>
              <a:srgbClr val="3182CE"/>
            </a:solidFill>
            <a:prstDash val="solid"/>
          </a:ln>
        </p:spPr>
      </p:sp>
      <p:sp>
        <p:nvSpPr>
          <p:cNvPr id="36" name="Shape 26"/>
          <p:cNvSpPr/>
          <p:nvPr/>
        </p:nvSpPr>
        <p:spPr>
          <a:xfrm>
            <a:off x="7786688" y="925116"/>
            <a:ext cx="342900" cy="342900"/>
          </a:xfrm>
          <a:prstGeom prst="rect">
            <a:avLst/>
          </a:prstGeom>
          <a:solidFill>
            <a:srgbClr val="FFFFFF"/>
          </a:solidFill>
          <a:ln w="9144">
            <a:solidFill>
              <a:srgbClr val="E2E8F0"/>
            </a:solidFill>
            <a:prstDash val="solid"/>
          </a:ln>
        </p:spPr>
      </p:sp>
      <p:pic>
        <p:nvPicPr>
          <p:cNvPr id="37" name="Image 7" descr="preencoded.png">    </p:cNvPr>
          <p:cNvPicPr>
            <a:picLocks noChangeAspect="1"/>
          </p:cNvPicPr>
          <p:nvPr/>
        </p:nvPicPr>
        <p:blipFill>
          <a:blip r:embed="rId8"/>
          <a:stretch>
            <a:fillRect/>
          </a:stretch>
        </p:blipFill>
        <p:spPr>
          <a:xfrm>
            <a:off x="7872413" y="1010841"/>
            <a:ext cx="171450" cy="171450"/>
          </a:xfrm>
          <a:prstGeom prst="rect">
            <a:avLst/>
          </a:prstGeom>
        </p:spPr>
      </p:pic>
      <p:sp>
        <p:nvSpPr>
          <p:cNvPr id="38" name="Text 27"/>
          <p:cNvSpPr/>
          <p:nvPr/>
        </p:nvSpPr>
        <p:spPr>
          <a:xfrm>
            <a:off x="7519495" y="1310878"/>
            <a:ext cx="877258"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3182CE"/>
                </a:solidFill>
              </a:rPr>
              <a:t>Aurora PostgreSQL</a:t>
            </a:r>
            <a:endParaRPr lang="en-US" sz="634" dirty="0"/>
          </a:p>
        </p:txBody>
      </p:sp>
      <p:sp>
        <p:nvSpPr>
          <p:cNvPr id="39" name="Shape 28"/>
          <p:cNvSpPr/>
          <p:nvPr/>
        </p:nvSpPr>
        <p:spPr>
          <a:xfrm>
            <a:off x="7493124" y="1450879"/>
            <a:ext cx="929999" cy="126802"/>
          </a:xfrm>
          <a:prstGeom prst="rect">
            <a:avLst/>
          </a:prstGeom>
          <a:solidFill>
            <a:srgbClr val="EDF2F7"/>
          </a:solidFill>
          <a:ln/>
        </p:spPr>
      </p:sp>
      <p:sp>
        <p:nvSpPr>
          <p:cNvPr id="40" name="Text 29"/>
          <p:cNvSpPr/>
          <p:nvPr/>
        </p:nvSpPr>
        <p:spPr>
          <a:xfrm>
            <a:off x="7550274" y="1465166"/>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41" name="Text 30"/>
          <p:cNvSpPr/>
          <p:nvPr/>
        </p:nvSpPr>
        <p:spPr>
          <a:xfrm>
            <a:off x="7771730" y="1465166"/>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&lt;1m</a:t>
            </a:r>
            <a:endParaRPr lang="en-US" sz="485" dirty="0"/>
          </a:p>
        </p:txBody>
      </p:sp>
      <p:sp>
        <p:nvSpPr>
          <p:cNvPr id="42" name="Text 31"/>
          <p:cNvSpPr/>
          <p:nvPr/>
        </p:nvSpPr>
        <p:spPr>
          <a:xfrm>
            <a:off x="7980769" y="1465166"/>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43" name="Text 32"/>
          <p:cNvSpPr/>
          <p:nvPr/>
        </p:nvSpPr>
        <p:spPr>
          <a:xfrm>
            <a:off x="8207164" y="1465166"/>
            <a:ext cx="158809"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Zero</a:t>
            </a:r>
            <a:endParaRPr lang="en-US" sz="485" dirty="0"/>
          </a:p>
        </p:txBody>
      </p:sp>
      <p:sp>
        <p:nvSpPr>
          <p:cNvPr id="44" name="Shape 33"/>
          <p:cNvSpPr/>
          <p:nvPr/>
        </p:nvSpPr>
        <p:spPr>
          <a:xfrm>
            <a:off x="214313" y="1706268"/>
            <a:ext cx="8715375" cy="895452"/>
          </a:xfrm>
          <a:prstGeom prst="rect">
            <a:avLst/>
          </a:prstGeom>
          <a:solidFill>
            <a:srgbClr val="F8F9FA"/>
          </a:solidFill>
          <a:ln w="9144">
            <a:solidFill>
              <a:srgbClr val="E2E8F0"/>
            </a:solidFill>
            <a:prstDash val="solid"/>
          </a:ln>
        </p:spPr>
      </p:sp>
      <p:sp>
        <p:nvSpPr>
          <p:cNvPr id="45" name="Text 34"/>
          <p:cNvSpPr/>
          <p:nvPr/>
        </p:nvSpPr>
        <p:spPr>
          <a:xfrm>
            <a:off x="328613" y="2049503"/>
            <a:ext cx="642938"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3182CE"/>
                </a:solidFill>
              </a:rPr>
              <a:t>APP 2</a:t>
            </a:r>
            <a:endParaRPr lang="en-US" sz="987" dirty="0"/>
          </a:p>
        </p:txBody>
      </p:sp>
      <p:sp>
        <p:nvSpPr>
          <p:cNvPr id="46" name="Shape 35"/>
          <p:cNvSpPr/>
          <p:nvPr/>
        </p:nvSpPr>
        <p:spPr>
          <a:xfrm>
            <a:off x="1785938" y="1820568"/>
            <a:ext cx="342900" cy="342900"/>
          </a:xfrm>
          <a:prstGeom prst="rect">
            <a:avLst/>
          </a:prstGeom>
          <a:solidFill>
            <a:srgbClr val="FFFFFF"/>
          </a:solidFill>
          <a:ln w="9144">
            <a:solidFill>
              <a:srgbClr val="E2E8F0"/>
            </a:solidFill>
            <a:prstDash val="solid"/>
          </a:ln>
        </p:spPr>
      </p:sp>
      <p:pic>
        <p:nvPicPr>
          <p:cNvPr id="47" name="Image 8" descr="preencoded.png">    </p:cNvPr>
          <p:cNvPicPr>
            <a:picLocks noChangeAspect="1"/>
          </p:cNvPicPr>
          <p:nvPr/>
        </p:nvPicPr>
        <p:blipFill>
          <a:blip r:embed="rId9"/>
          <a:stretch>
            <a:fillRect/>
          </a:stretch>
        </p:blipFill>
        <p:spPr>
          <a:xfrm>
            <a:off x="1893094" y="1906293"/>
            <a:ext cx="128588" cy="171450"/>
          </a:xfrm>
          <a:prstGeom prst="rect">
            <a:avLst/>
          </a:prstGeom>
        </p:spPr>
      </p:pic>
      <p:sp>
        <p:nvSpPr>
          <p:cNvPr id="48" name="Text 36"/>
          <p:cNvSpPr/>
          <p:nvPr/>
        </p:nvSpPr>
        <p:spPr>
          <a:xfrm>
            <a:off x="1559430" y="2206330"/>
            <a:ext cx="795886"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Active-Pilot Light</a:t>
            </a:r>
            <a:endParaRPr lang="en-US" sz="634" dirty="0"/>
          </a:p>
        </p:txBody>
      </p:sp>
      <p:sp>
        <p:nvSpPr>
          <p:cNvPr id="49" name="Shape 37"/>
          <p:cNvSpPr/>
          <p:nvPr/>
        </p:nvSpPr>
        <p:spPr>
          <a:xfrm>
            <a:off x="1487016" y="2346331"/>
            <a:ext cx="940715" cy="126802"/>
          </a:xfrm>
          <a:prstGeom prst="rect">
            <a:avLst/>
          </a:prstGeom>
          <a:solidFill>
            <a:srgbClr val="EDF2F7"/>
          </a:solidFill>
          <a:ln/>
        </p:spPr>
      </p:sp>
      <p:sp>
        <p:nvSpPr>
          <p:cNvPr id="50" name="Text 38"/>
          <p:cNvSpPr/>
          <p:nvPr/>
        </p:nvSpPr>
        <p:spPr>
          <a:xfrm>
            <a:off x="1544166" y="2360619"/>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51" name="Text 39"/>
          <p:cNvSpPr/>
          <p:nvPr/>
        </p:nvSpPr>
        <p:spPr>
          <a:xfrm>
            <a:off x="1765622" y="2360619"/>
            <a:ext cx="128671"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&lt;1h</a:t>
            </a:r>
            <a:endParaRPr lang="en-US" sz="485" dirty="0"/>
          </a:p>
        </p:txBody>
      </p:sp>
      <p:sp>
        <p:nvSpPr>
          <p:cNvPr id="52" name="Text 40"/>
          <p:cNvSpPr/>
          <p:nvPr/>
        </p:nvSpPr>
        <p:spPr>
          <a:xfrm>
            <a:off x="1951444" y="2360619"/>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53" name="Text 41"/>
          <p:cNvSpPr/>
          <p:nvPr/>
        </p:nvSpPr>
        <p:spPr>
          <a:xfrm>
            <a:off x="2177839" y="2360619"/>
            <a:ext cx="192742"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&lt;15m</a:t>
            </a:r>
            <a:endParaRPr lang="en-US" sz="485" dirty="0"/>
          </a:p>
        </p:txBody>
      </p:sp>
      <p:pic>
        <p:nvPicPr>
          <p:cNvPr id="54" name="Image 9" descr="preencoded.png">    </p:cNvPr>
          <p:cNvPicPr>
            <a:picLocks noChangeAspect="1"/>
          </p:cNvPicPr>
          <p:nvPr/>
        </p:nvPicPr>
        <p:blipFill>
          <a:blip r:embed="rId10"/>
          <a:stretch>
            <a:fillRect/>
          </a:stretch>
        </p:blipFill>
        <p:spPr>
          <a:xfrm>
            <a:off x="3417391" y="2082543"/>
            <a:ext cx="80367" cy="128588"/>
          </a:xfrm>
          <a:prstGeom prst="rect">
            <a:avLst/>
          </a:prstGeom>
        </p:spPr>
      </p:pic>
      <p:sp>
        <p:nvSpPr>
          <p:cNvPr id="55" name="Shape 42"/>
          <p:cNvSpPr/>
          <p:nvPr/>
        </p:nvSpPr>
        <p:spPr>
          <a:xfrm>
            <a:off x="4786313" y="1820568"/>
            <a:ext cx="342900" cy="342900"/>
          </a:xfrm>
          <a:prstGeom prst="rect">
            <a:avLst/>
          </a:prstGeom>
          <a:solidFill>
            <a:srgbClr val="FFFFFF"/>
          </a:solidFill>
          <a:ln w="9144">
            <a:solidFill>
              <a:srgbClr val="E2E8F0"/>
            </a:solidFill>
            <a:prstDash val="solid"/>
          </a:ln>
        </p:spPr>
      </p:sp>
      <p:pic>
        <p:nvPicPr>
          <p:cNvPr id="56" name="Image 10" descr="preencoded.png">    </p:cNvPr>
          <p:cNvPicPr>
            <a:picLocks noChangeAspect="1"/>
          </p:cNvPicPr>
          <p:nvPr/>
        </p:nvPicPr>
        <p:blipFill>
          <a:blip r:embed="rId11"/>
          <a:stretch>
            <a:fillRect/>
          </a:stretch>
        </p:blipFill>
        <p:spPr>
          <a:xfrm>
            <a:off x="4904184" y="1906293"/>
            <a:ext cx="107156" cy="171450"/>
          </a:xfrm>
          <a:prstGeom prst="rect">
            <a:avLst/>
          </a:prstGeom>
        </p:spPr>
      </p:pic>
      <p:sp>
        <p:nvSpPr>
          <p:cNvPr id="57" name="Text 43"/>
          <p:cNvSpPr/>
          <p:nvPr/>
        </p:nvSpPr>
        <p:spPr>
          <a:xfrm>
            <a:off x="4459374" y="2206330"/>
            <a:ext cx="996776"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Active-Warm Standby</a:t>
            </a:r>
            <a:endParaRPr lang="en-US" sz="634" dirty="0"/>
          </a:p>
        </p:txBody>
      </p:sp>
      <p:sp>
        <p:nvSpPr>
          <p:cNvPr id="58" name="Shape 44"/>
          <p:cNvSpPr/>
          <p:nvPr/>
        </p:nvSpPr>
        <p:spPr>
          <a:xfrm>
            <a:off x="4475783" y="2346331"/>
            <a:ext cx="963932" cy="126802"/>
          </a:xfrm>
          <a:prstGeom prst="rect">
            <a:avLst/>
          </a:prstGeom>
          <a:solidFill>
            <a:srgbClr val="EDF2F7"/>
          </a:solidFill>
          <a:ln/>
        </p:spPr>
      </p:sp>
      <p:sp>
        <p:nvSpPr>
          <p:cNvPr id="59" name="Text 45"/>
          <p:cNvSpPr/>
          <p:nvPr/>
        </p:nvSpPr>
        <p:spPr>
          <a:xfrm>
            <a:off x="4532933" y="2360619"/>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60" name="Text 46"/>
          <p:cNvSpPr/>
          <p:nvPr/>
        </p:nvSpPr>
        <p:spPr>
          <a:xfrm>
            <a:off x="4754389" y="2360619"/>
            <a:ext cx="192742"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&lt;15m</a:t>
            </a:r>
            <a:endParaRPr lang="en-US" sz="485" dirty="0"/>
          </a:p>
        </p:txBody>
      </p:sp>
      <p:sp>
        <p:nvSpPr>
          <p:cNvPr id="61" name="Text 47"/>
          <p:cNvSpPr/>
          <p:nvPr/>
        </p:nvSpPr>
        <p:spPr>
          <a:xfrm>
            <a:off x="5004281" y="2360619"/>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62" name="Text 48"/>
          <p:cNvSpPr/>
          <p:nvPr/>
        </p:nvSpPr>
        <p:spPr>
          <a:xfrm>
            <a:off x="5230676" y="2360619"/>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&lt;5m</a:t>
            </a:r>
            <a:endParaRPr lang="en-US" sz="485" dirty="0"/>
          </a:p>
        </p:txBody>
      </p:sp>
      <p:sp>
        <p:nvSpPr>
          <p:cNvPr id="63" name="Shape 49"/>
          <p:cNvSpPr/>
          <p:nvPr/>
        </p:nvSpPr>
        <p:spPr>
          <a:xfrm>
            <a:off x="7100888" y="1749130"/>
            <a:ext cx="1714500" cy="795440"/>
          </a:xfrm>
          <a:prstGeom prst="rect">
            <a:avLst/>
          </a:prstGeom>
          <a:solidFill>
            <a:srgbClr val="EBF8FF"/>
          </a:solidFill>
          <a:ln w="18288">
            <a:solidFill>
              <a:srgbClr val="3182CE"/>
            </a:solidFill>
            <a:prstDash val="solid"/>
          </a:ln>
        </p:spPr>
      </p:sp>
      <p:sp>
        <p:nvSpPr>
          <p:cNvPr id="64" name="Shape 50"/>
          <p:cNvSpPr/>
          <p:nvPr/>
        </p:nvSpPr>
        <p:spPr>
          <a:xfrm>
            <a:off x="7786688" y="1806280"/>
            <a:ext cx="342900" cy="342900"/>
          </a:xfrm>
          <a:prstGeom prst="rect">
            <a:avLst/>
          </a:prstGeom>
          <a:solidFill>
            <a:srgbClr val="FFFFFF"/>
          </a:solidFill>
          <a:ln w="9144">
            <a:solidFill>
              <a:srgbClr val="E2E8F0"/>
            </a:solidFill>
            <a:prstDash val="solid"/>
          </a:ln>
        </p:spPr>
      </p:sp>
      <p:pic>
        <p:nvPicPr>
          <p:cNvPr id="65" name="Image 11" descr="preencoded.png">    </p:cNvPr>
          <p:cNvPicPr>
            <a:picLocks noChangeAspect="1"/>
          </p:cNvPicPr>
          <p:nvPr/>
        </p:nvPicPr>
        <p:blipFill>
          <a:blip r:embed="rId12"/>
          <a:stretch>
            <a:fillRect/>
          </a:stretch>
        </p:blipFill>
        <p:spPr>
          <a:xfrm>
            <a:off x="7872413" y="1892005"/>
            <a:ext cx="171450" cy="171450"/>
          </a:xfrm>
          <a:prstGeom prst="rect">
            <a:avLst/>
          </a:prstGeom>
        </p:spPr>
      </p:pic>
      <p:sp>
        <p:nvSpPr>
          <p:cNvPr id="66" name="Text 51"/>
          <p:cNvSpPr/>
          <p:nvPr/>
        </p:nvSpPr>
        <p:spPr>
          <a:xfrm>
            <a:off x="7519495" y="2192043"/>
            <a:ext cx="877258"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3182CE"/>
                </a:solidFill>
              </a:rPr>
              <a:t>Aurora PostgreSQL</a:t>
            </a:r>
            <a:endParaRPr lang="en-US" sz="634" dirty="0"/>
          </a:p>
        </p:txBody>
      </p:sp>
      <p:sp>
        <p:nvSpPr>
          <p:cNvPr id="67" name="Shape 52"/>
          <p:cNvSpPr/>
          <p:nvPr/>
        </p:nvSpPr>
        <p:spPr>
          <a:xfrm>
            <a:off x="7493124" y="2332044"/>
            <a:ext cx="929999" cy="126802"/>
          </a:xfrm>
          <a:prstGeom prst="rect">
            <a:avLst/>
          </a:prstGeom>
          <a:solidFill>
            <a:srgbClr val="EDF2F7"/>
          </a:solidFill>
          <a:ln/>
        </p:spPr>
      </p:sp>
      <p:sp>
        <p:nvSpPr>
          <p:cNvPr id="68" name="Text 53"/>
          <p:cNvSpPr/>
          <p:nvPr/>
        </p:nvSpPr>
        <p:spPr>
          <a:xfrm>
            <a:off x="7550274" y="2346331"/>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69" name="Text 54"/>
          <p:cNvSpPr/>
          <p:nvPr/>
        </p:nvSpPr>
        <p:spPr>
          <a:xfrm>
            <a:off x="7771730" y="2346331"/>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&lt;1m</a:t>
            </a:r>
            <a:endParaRPr lang="en-US" sz="485" dirty="0"/>
          </a:p>
        </p:txBody>
      </p:sp>
      <p:sp>
        <p:nvSpPr>
          <p:cNvPr id="70" name="Text 55"/>
          <p:cNvSpPr/>
          <p:nvPr/>
        </p:nvSpPr>
        <p:spPr>
          <a:xfrm>
            <a:off x="7980769" y="2346331"/>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71" name="Text 56"/>
          <p:cNvSpPr/>
          <p:nvPr/>
        </p:nvSpPr>
        <p:spPr>
          <a:xfrm>
            <a:off x="8207164" y="2346331"/>
            <a:ext cx="158809"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Zero</a:t>
            </a:r>
            <a:endParaRPr lang="en-US" sz="485" dirty="0"/>
          </a:p>
        </p:txBody>
      </p:sp>
      <p:sp>
        <p:nvSpPr>
          <p:cNvPr id="72" name="Shape 57"/>
          <p:cNvSpPr/>
          <p:nvPr/>
        </p:nvSpPr>
        <p:spPr>
          <a:xfrm>
            <a:off x="214313" y="2587433"/>
            <a:ext cx="8715375" cy="895452"/>
          </a:xfrm>
          <a:prstGeom prst="rect">
            <a:avLst/>
          </a:prstGeom>
          <a:solidFill>
            <a:srgbClr val="F8F9FA"/>
          </a:solidFill>
          <a:ln w="9144">
            <a:solidFill>
              <a:srgbClr val="E2E8F0"/>
            </a:solidFill>
            <a:prstDash val="solid"/>
          </a:ln>
        </p:spPr>
      </p:sp>
      <p:sp>
        <p:nvSpPr>
          <p:cNvPr id="73" name="Text 58"/>
          <p:cNvSpPr/>
          <p:nvPr/>
        </p:nvSpPr>
        <p:spPr>
          <a:xfrm>
            <a:off x="328613" y="2930668"/>
            <a:ext cx="642938"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3182CE"/>
                </a:solidFill>
              </a:rPr>
              <a:t>APP 3</a:t>
            </a:r>
            <a:endParaRPr lang="en-US" sz="987" dirty="0"/>
          </a:p>
        </p:txBody>
      </p:sp>
      <p:sp>
        <p:nvSpPr>
          <p:cNvPr id="74" name="Shape 59"/>
          <p:cNvSpPr/>
          <p:nvPr/>
        </p:nvSpPr>
        <p:spPr>
          <a:xfrm>
            <a:off x="1785938" y="2701733"/>
            <a:ext cx="342900" cy="342900"/>
          </a:xfrm>
          <a:prstGeom prst="rect">
            <a:avLst/>
          </a:prstGeom>
          <a:solidFill>
            <a:srgbClr val="FFFFFF"/>
          </a:solidFill>
          <a:ln w="9144">
            <a:solidFill>
              <a:srgbClr val="E2E8F0"/>
            </a:solidFill>
            <a:prstDash val="solid"/>
          </a:ln>
        </p:spPr>
      </p:sp>
      <p:pic>
        <p:nvPicPr>
          <p:cNvPr id="75" name="Image 12" descr="preencoded.png">    </p:cNvPr>
          <p:cNvPicPr>
            <a:picLocks noChangeAspect="1"/>
          </p:cNvPicPr>
          <p:nvPr/>
        </p:nvPicPr>
        <p:blipFill>
          <a:blip r:embed="rId13"/>
          <a:stretch>
            <a:fillRect/>
          </a:stretch>
        </p:blipFill>
        <p:spPr>
          <a:xfrm>
            <a:off x="1882378" y="2787458"/>
            <a:ext cx="150019" cy="171450"/>
          </a:xfrm>
          <a:prstGeom prst="rect">
            <a:avLst/>
          </a:prstGeom>
        </p:spPr>
      </p:pic>
      <p:sp>
        <p:nvSpPr>
          <p:cNvPr id="76" name="Text 60"/>
          <p:cNvSpPr/>
          <p:nvPr/>
        </p:nvSpPr>
        <p:spPr>
          <a:xfrm>
            <a:off x="1519275" y="3087495"/>
            <a:ext cx="876226"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Oracle RDS (Single)</a:t>
            </a:r>
            <a:endParaRPr lang="en-US" sz="634" dirty="0"/>
          </a:p>
        </p:txBody>
      </p:sp>
      <p:sp>
        <p:nvSpPr>
          <p:cNvPr id="77" name="Shape 61"/>
          <p:cNvSpPr/>
          <p:nvPr/>
        </p:nvSpPr>
        <p:spPr>
          <a:xfrm>
            <a:off x="1487128" y="3227496"/>
            <a:ext cx="940519" cy="126802"/>
          </a:xfrm>
          <a:prstGeom prst="rect">
            <a:avLst/>
          </a:prstGeom>
          <a:solidFill>
            <a:srgbClr val="EDF2F7"/>
          </a:solidFill>
          <a:ln/>
        </p:spPr>
      </p:sp>
      <p:sp>
        <p:nvSpPr>
          <p:cNvPr id="78" name="Text 62"/>
          <p:cNvSpPr/>
          <p:nvPr/>
        </p:nvSpPr>
        <p:spPr>
          <a:xfrm>
            <a:off x="1544278" y="3241784"/>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79" name="Text 63"/>
          <p:cNvSpPr/>
          <p:nvPr/>
        </p:nvSpPr>
        <p:spPr>
          <a:xfrm>
            <a:off x="1765734" y="3241784"/>
            <a:ext cx="19254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4-24h</a:t>
            </a:r>
            <a:endParaRPr lang="en-US" sz="485" dirty="0"/>
          </a:p>
        </p:txBody>
      </p:sp>
      <p:sp>
        <p:nvSpPr>
          <p:cNvPr id="80" name="Text 64"/>
          <p:cNvSpPr/>
          <p:nvPr/>
        </p:nvSpPr>
        <p:spPr>
          <a:xfrm>
            <a:off x="2015430" y="3241784"/>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81" name="Text 65"/>
          <p:cNvSpPr/>
          <p:nvPr/>
        </p:nvSpPr>
        <p:spPr>
          <a:xfrm>
            <a:off x="2241826" y="3241784"/>
            <a:ext cx="128671"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1h+</a:t>
            </a:r>
            <a:endParaRPr lang="en-US" sz="485" dirty="0"/>
          </a:p>
        </p:txBody>
      </p:sp>
      <p:pic>
        <p:nvPicPr>
          <p:cNvPr id="82" name="Image 13" descr="preencoded.png">    </p:cNvPr>
          <p:cNvPicPr>
            <a:picLocks noChangeAspect="1"/>
          </p:cNvPicPr>
          <p:nvPr/>
        </p:nvPicPr>
        <p:blipFill>
          <a:blip r:embed="rId14"/>
          <a:stretch>
            <a:fillRect/>
          </a:stretch>
        </p:blipFill>
        <p:spPr>
          <a:xfrm>
            <a:off x="2917329" y="2963707"/>
            <a:ext cx="80367" cy="128588"/>
          </a:xfrm>
          <a:prstGeom prst="rect">
            <a:avLst/>
          </a:prstGeom>
        </p:spPr>
      </p:pic>
      <p:sp>
        <p:nvSpPr>
          <p:cNvPr id="83" name="Shape 66"/>
          <p:cNvSpPr/>
          <p:nvPr/>
        </p:nvSpPr>
        <p:spPr>
          <a:xfrm>
            <a:off x="3786188" y="2701733"/>
            <a:ext cx="342900" cy="342900"/>
          </a:xfrm>
          <a:prstGeom prst="rect">
            <a:avLst/>
          </a:prstGeom>
          <a:solidFill>
            <a:srgbClr val="FFFFFF"/>
          </a:solidFill>
          <a:ln w="9144">
            <a:solidFill>
              <a:srgbClr val="E2E8F0"/>
            </a:solidFill>
            <a:prstDash val="solid"/>
          </a:ln>
        </p:spPr>
      </p:sp>
      <p:pic>
        <p:nvPicPr>
          <p:cNvPr id="84" name="Image 14" descr="preencoded.png">    </p:cNvPr>
          <p:cNvPicPr>
            <a:picLocks noChangeAspect="1"/>
          </p:cNvPicPr>
          <p:nvPr/>
        </p:nvPicPr>
        <p:blipFill>
          <a:blip r:embed="rId15"/>
          <a:stretch>
            <a:fillRect/>
          </a:stretch>
        </p:blipFill>
        <p:spPr>
          <a:xfrm>
            <a:off x="3893344" y="2787458"/>
            <a:ext cx="128588" cy="171450"/>
          </a:xfrm>
          <a:prstGeom prst="rect">
            <a:avLst/>
          </a:prstGeom>
        </p:spPr>
      </p:pic>
      <p:sp>
        <p:nvSpPr>
          <p:cNvPr id="85" name="Text 67"/>
          <p:cNvSpPr/>
          <p:nvPr/>
        </p:nvSpPr>
        <p:spPr>
          <a:xfrm>
            <a:off x="3559680" y="3087495"/>
            <a:ext cx="795886"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Active-Pilot Light</a:t>
            </a:r>
            <a:endParaRPr lang="en-US" sz="634" dirty="0"/>
          </a:p>
        </p:txBody>
      </p:sp>
      <p:sp>
        <p:nvSpPr>
          <p:cNvPr id="86" name="Shape 68"/>
          <p:cNvSpPr/>
          <p:nvPr/>
        </p:nvSpPr>
        <p:spPr>
          <a:xfrm>
            <a:off x="3487266" y="3227496"/>
            <a:ext cx="940715" cy="126802"/>
          </a:xfrm>
          <a:prstGeom prst="rect">
            <a:avLst/>
          </a:prstGeom>
          <a:solidFill>
            <a:srgbClr val="EDF2F7"/>
          </a:solidFill>
          <a:ln/>
        </p:spPr>
      </p:sp>
      <p:sp>
        <p:nvSpPr>
          <p:cNvPr id="87" name="Text 69"/>
          <p:cNvSpPr/>
          <p:nvPr/>
        </p:nvSpPr>
        <p:spPr>
          <a:xfrm>
            <a:off x="3544416" y="3241784"/>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88" name="Text 70"/>
          <p:cNvSpPr/>
          <p:nvPr/>
        </p:nvSpPr>
        <p:spPr>
          <a:xfrm>
            <a:off x="3765872" y="3241784"/>
            <a:ext cx="128671"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&lt;1h</a:t>
            </a:r>
            <a:endParaRPr lang="en-US" sz="485" dirty="0"/>
          </a:p>
        </p:txBody>
      </p:sp>
      <p:sp>
        <p:nvSpPr>
          <p:cNvPr id="89" name="Text 71"/>
          <p:cNvSpPr/>
          <p:nvPr/>
        </p:nvSpPr>
        <p:spPr>
          <a:xfrm>
            <a:off x="3951694" y="3241784"/>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90" name="Text 72"/>
          <p:cNvSpPr/>
          <p:nvPr/>
        </p:nvSpPr>
        <p:spPr>
          <a:xfrm>
            <a:off x="4178089" y="3241784"/>
            <a:ext cx="192742"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&lt;15m</a:t>
            </a:r>
            <a:endParaRPr lang="en-US" sz="485" dirty="0"/>
          </a:p>
        </p:txBody>
      </p:sp>
      <p:pic>
        <p:nvPicPr>
          <p:cNvPr id="91" name="Image 15" descr="preencoded.png">    </p:cNvPr>
          <p:cNvPicPr>
            <a:picLocks noChangeAspect="1"/>
          </p:cNvPicPr>
          <p:nvPr/>
        </p:nvPicPr>
        <p:blipFill>
          <a:blip r:embed="rId16"/>
          <a:stretch>
            <a:fillRect/>
          </a:stretch>
        </p:blipFill>
        <p:spPr>
          <a:xfrm>
            <a:off x="4917579" y="2963707"/>
            <a:ext cx="80367" cy="128588"/>
          </a:xfrm>
          <a:prstGeom prst="rect">
            <a:avLst/>
          </a:prstGeom>
        </p:spPr>
      </p:pic>
      <p:sp>
        <p:nvSpPr>
          <p:cNvPr id="92" name="Shape 73"/>
          <p:cNvSpPr/>
          <p:nvPr/>
        </p:nvSpPr>
        <p:spPr>
          <a:xfrm>
            <a:off x="5786438" y="2701733"/>
            <a:ext cx="342900" cy="342900"/>
          </a:xfrm>
          <a:prstGeom prst="rect">
            <a:avLst/>
          </a:prstGeom>
          <a:solidFill>
            <a:srgbClr val="FFFFFF"/>
          </a:solidFill>
          <a:ln w="9144">
            <a:solidFill>
              <a:srgbClr val="E2E8F0"/>
            </a:solidFill>
            <a:prstDash val="solid"/>
          </a:ln>
        </p:spPr>
      </p:sp>
      <p:pic>
        <p:nvPicPr>
          <p:cNvPr id="93" name="Image 16" descr="preencoded.png">    </p:cNvPr>
          <p:cNvPicPr>
            <a:picLocks noChangeAspect="1"/>
          </p:cNvPicPr>
          <p:nvPr/>
        </p:nvPicPr>
        <p:blipFill>
          <a:blip r:embed="rId17"/>
          <a:stretch>
            <a:fillRect/>
          </a:stretch>
        </p:blipFill>
        <p:spPr>
          <a:xfrm>
            <a:off x="5872163" y="2787458"/>
            <a:ext cx="171450" cy="171450"/>
          </a:xfrm>
          <a:prstGeom prst="rect">
            <a:avLst/>
          </a:prstGeom>
        </p:spPr>
      </p:pic>
      <p:sp>
        <p:nvSpPr>
          <p:cNvPr id="94" name="Text 74"/>
          <p:cNvSpPr/>
          <p:nvPr/>
        </p:nvSpPr>
        <p:spPr>
          <a:xfrm>
            <a:off x="5529039" y="3087495"/>
            <a:ext cx="857669"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Active-Active (EC2)</a:t>
            </a:r>
            <a:endParaRPr lang="en-US" sz="634" dirty="0"/>
          </a:p>
        </p:txBody>
      </p:sp>
      <p:sp>
        <p:nvSpPr>
          <p:cNvPr id="95" name="Shape 75"/>
          <p:cNvSpPr/>
          <p:nvPr/>
        </p:nvSpPr>
        <p:spPr>
          <a:xfrm>
            <a:off x="5496334" y="3227496"/>
            <a:ext cx="923079" cy="126802"/>
          </a:xfrm>
          <a:prstGeom prst="rect">
            <a:avLst/>
          </a:prstGeom>
          <a:solidFill>
            <a:srgbClr val="EDF2F7"/>
          </a:solidFill>
          <a:ln/>
        </p:spPr>
      </p:sp>
      <p:sp>
        <p:nvSpPr>
          <p:cNvPr id="96" name="Text 76"/>
          <p:cNvSpPr/>
          <p:nvPr/>
        </p:nvSpPr>
        <p:spPr>
          <a:xfrm>
            <a:off x="5553484" y="3241784"/>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97" name="Text 77"/>
          <p:cNvSpPr/>
          <p:nvPr/>
        </p:nvSpPr>
        <p:spPr>
          <a:xfrm>
            <a:off x="5774941" y="3241784"/>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&lt;5m</a:t>
            </a:r>
            <a:endParaRPr lang="en-US" sz="485" dirty="0"/>
          </a:p>
        </p:txBody>
      </p:sp>
      <p:sp>
        <p:nvSpPr>
          <p:cNvPr id="98" name="Text 78"/>
          <p:cNvSpPr/>
          <p:nvPr/>
        </p:nvSpPr>
        <p:spPr>
          <a:xfrm>
            <a:off x="5983979" y="3241784"/>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99" name="Text 79"/>
          <p:cNvSpPr/>
          <p:nvPr/>
        </p:nvSpPr>
        <p:spPr>
          <a:xfrm>
            <a:off x="6210374" y="3241784"/>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&lt;1m</a:t>
            </a:r>
            <a:endParaRPr lang="en-US" sz="485" dirty="0"/>
          </a:p>
        </p:txBody>
      </p:sp>
      <p:pic>
        <p:nvPicPr>
          <p:cNvPr id="100" name="Image 17" descr="preencoded.png">    </p:cNvPr>
          <p:cNvPicPr>
            <a:picLocks noChangeAspect="1"/>
          </p:cNvPicPr>
          <p:nvPr/>
        </p:nvPicPr>
        <p:blipFill>
          <a:blip r:embed="rId18"/>
          <a:stretch>
            <a:fillRect/>
          </a:stretch>
        </p:blipFill>
        <p:spPr>
          <a:xfrm>
            <a:off x="6917829" y="2963707"/>
            <a:ext cx="80367" cy="128588"/>
          </a:xfrm>
          <a:prstGeom prst="rect">
            <a:avLst/>
          </a:prstGeom>
        </p:spPr>
      </p:pic>
      <p:sp>
        <p:nvSpPr>
          <p:cNvPr id="101" name="Shape 80"/>
          <p:cNvSpPr/>
          <p:nvPr/>
        </p:nvSpPr>
        <p:spPr>
          <a:xfrm>
            <a:off x="7100888" y="2630295"/>
            <a:ext cx="1714500" cy="795440"/>
          </a:xfrm>
          <a:prstGeom prst="rect">
            <a:avLst/>
          </a:prstGeom>
          <a:solidFill>
            <a:srgbClr val="EBF8FF"/>
          </a:solidFill>
          <a:ln w="18288">
            <a:solidFill>
              <a:srgbClr val="3182CE"/>
            </a:solidFill>
            <a:prstDash val="solid"/>
          </a:ln>
        </p:spPr>
      </p:sp>
      <p:sp>
        <p:nvSpPr>
          <p:cNvPr id="102" name="Shape 81"/>
          <p:cNvSpPr/>
          <p:nvPr/>
        </p:nvSpPr>
        <p:spPr>
          <a:xfrm>
            <a:off x="7786688" y="2687445"/>
            <a:ext cx="342900" cy="342900"/>
          </a:xfrm>
          <a:prstGeom prst="rect">
            <a:avLst/>
          </a:prstGeom>
          <a:solidFill>
            <a:srgbClr val="FFFFFF"/>
          </a:solidFill>
          <a:ln w="9144">
            <a:solidFill>
              <a:srgbClr val="E2E8F0"/>
            </a:solidFill>
            <a:prstDash val="solid"/>
          </a:ln>
        </p:spPr>
      </p:sp>
      <p:pic>
        <p:nvPicPr>
          <p:cNvPr id="103" name="Image 18" descr="preencoded.png">    </p:cNvPr>
          <p:cNvPicPr>
            <a:picLocks noChangeAspect="1"/>
          </p:cNvPicPr>
          <p:nvPr/>
        </p:nvPicPr>
        <p:blipFill>
          <a:blip r:embed="rId19"/>
          <a:stretch>
            <a:fillRect/>
          </a:stretch>
        </p:blipFill>
        <p:spPr>
          <a:xfrm>
            <a:off x="7872413" y="2773170"/>
            <a:ext cx="171450" cy="171450"/>
          </a:xfrm>
          <a:prstGeom prst="rect">
            <a:avLst/>
          </a:prstGeom>
        </p:spPr>
      </p:pic>
      <p:sp>
        <p:nvSpPr>
          <p:cNvPr id="104" name="Text 82"/>
          <p:cNvSpPr/>
          <p:nvPr/>
        </p:nvSpPr>
        <p:spPr>
          <a:xfrm>
            <a:off x="7519495" y="3073208"/>
            <a:ext cx="877258"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3182CE"/>
                </a:solidFill>
              </a:rPr>
              <a:t>Aurora PostgreSQL</a:t>
            </a:r>
            <a:endParaRPr lang="en-US" sz="634" dirty="0"/>
          </a:p>
        </p:txBody>
      </p:sp>
      <p:sp>
        <p:nvSpPr>
          <p:cNvPr id="105" name="Shape 83"/>
          <p:cNvSpPr/>
          <p:nvPr/>
        </p:nvSpPr>
        <p:spPr>
          <a:xfrm>
            <a:off x="7493124" y="3213209"/>
            <a:ext cx="929999" cy="126802"/>
          </a:xfrm>
          <a:prstGeom prst="rect">
            <a:avLst/>
          </a:prstGeom>
          <a:solidFill>
            <a:srgbClr val="EDF2F7"/>
          </a:solidFill>
          <a:ln/>
        </p:spPr>
      </p:sp>
      <p:sp>
        <p:nvSpPr>
          <p:cNvPr id="106" name="Text 84"/>
          <p:cNvSpPr/>
          <p:nvPr/>
        </p:nvSpPr>
        <p:spPr>
          <a:xfrm>
            <a:off x="7550274" y="3227496"/>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107" name="Text 85"/>
          <p:cNvSpPr/>
          <p:nvPr/>
        </p:nvSpPr>
        <p:spPr>
          <a:xfrm>
            <a:off x="7771730" y="3227496"/>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&lt;1m</a:t>
            </a:r>
            <a:endParaRPr lang="en-US" sz="485" dirty="0"/>
          </a:p>
        </p:txBody>
      </p:sp>
      <p:sp>
        <p:nvSpPr>
          <p:cNvPr id="108" name="Text 86"/>
          <p:cNvSpPr/>
          <p:nvPr/>
        </p:nvSpPr>
        <p:spPr>
          <a:xfrm>
            <a:off x="7980769" y="3227496"/>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109" name="Text 87"/>
          <p:cNvSpPr/>
          <p:nvPr/>
        </p:nvSpPr>
        <p:spPr>
          <a:xfrm>
            <a:off x="8207164" y="3227496"/>
            <a:ext cx="158809"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Zero</a:t>
            </a:r>
            <a:endParaRPr lang="en-US" sz="485" dirty="0"/>
          </a:p>
        </p:txBody>
      </p:sp>
      <p:sp>
        <p:nvSpPr>
          <p:cNvPr id="110" name="Shape 88"/>
          <p:cNvSpPr/>
          <p:nvPr/>
        </p:nvSpPr>
        <p:spPr>
          <a:xfrm>
            <a:off x="214313" y="3468598"/>
            <a:ext cx="8715375" cy="895452"/>
          </a:xfrm>
          <a:prstGeom prst="rect">
            <a:avLst/>
          </a:prstGeom>
          <a:solidFill>
            <a:srgbClr val="F8F9FA"/>
          </a:solidFill>
          <a:ln w="9144">
            <a:solidFill>
              <a:srgbClr val="E2E8F0"/>
            </a:solidFill>
            <a:prstDash val="solid"/>
          </a:ln>
        </p:spPr>
      </p:sp>
      <p:sp>
        <p:nvSpPr>
          <p:cNvPr id="111" name="Text 89"/>
          <p:cNvSpPr/>
          <p:nvPr/>
        </p:nvSpPr>
        <p:spPr>
          <a:xfrm>
            <a:off x="328613" y="3811832"/>
            <a:ext cx="642938"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3182CE"/>
                </a:solidFill>
              </a:rPr>
              <a:t>APP 4</a:t>
            </a:r>
            <a:endParaRPr lang="en-US" sz="987" dirty="0"/>
          </a:p>
        </p:txBody>
      </p:sp>
      <p:sp>
        <p:nvSpPr>
          <p:cNvPr id="112" name="Shape 90"/>
          <p:cNvSpPr/>
          <p:nvPr/>
        </p:nvSpPr>
        <p:spPr>
          <a:xfrm>
            <a:off x="1785938" y="3582898"/>
            <a:ext cx="342900" cy="342900"/>
          </a:xfrm>
          <a:prstGeom prst="rect">
            <a:avLst/>
          </a:prstGeom>
          <a:solidFill>
            <a:srgbClr val="FFFFFF"/>
          </a:solidFill>
          <a:ln w="9144">
            <a:solidFill>
              <a:srgbClr val="E2E8F0"/>
            </a:solidFill>
            <a:prstDash val="solid"/>
          </a:ln>
        </p:spPr>
      </p:sp>
      <p:pic>
        <p:nvPicPr>
          <p:cNvPr id="113" name="Image 19" descr="preencoded.png">    </p:cNvPr>
          <p:cNvPicPr>
            <a:picLocks noChangeAspect="1"/>
          </p:cNvPicPr>
          <p:nvPr/>
        </p:nvPicPr>
        <p:blipFill>
          <a:blip r:embed="rId20"/>
          <a:stretch>
            <a:fillRect/>
          </a:stretch>
        </p:blipFill>
        <p:spPr>
          <a:xfrm>
            <a:off x="1893094" y="3668623"/>
            <a:ext cx="128588" cy="171450"/>
          </a:xfrm>
          <a:prstGeom prst="rect">
            <a:avLst/>
          </a:prstGeom>
        </p:spPr>
      </p:pic>
      <p:sp>
        <p:nvSpPr>
          <p:cNvPr id="114" name="Text 91"/>
          <p:cNvSpPr/>
          <p:nvPr/>
        </p:nvSpPr>
        <p:spPr>
          <a:xfrm>
            <a:off x="1559430" y="3968660"/>
            <a:ext cx="795886"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Active-Pilot Light</a:t>
            </a:r>
            <a:endParaRPr lang="en-US" sz="634" dirty="0"/>
          </a:p>
        </p:txBody>
      </p:sp>
      <p:sp>
        <p:nvSpPr>
          <p:cNvPr id="115" name="Shape 92"/>
          <p:cNvSpPr/>
          <p:nvPr/>
        </p:nvSpPr>
        <p:spPr>
          <a:xfrm>
            <a:off x="1487016" y="4108661"/>
            <a:ext cx="940715" cy="126802"/>
          </a:xfrm>
          <a:prstGeom prst="rect">
            <a:avLst/>
          </a:prstGeom>
          <a:solidFill>
            <a:srgbClr val="EDF2F7"/>
          </a:solidFill>
          <a:ln/>
        </p:spPr>
      </p:sp>
      <p:sp>
        <p:nvSpPr>
          <p:cNvPr id="116" name="Text 93"/>
          <p:cNvSpPr/>
          <p:nvPr/>
        </p:nvSpPr>
        <p:spPr>
          <a:xfrm>
            <a:off x="1544166" y="4122948"/>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117" name="Text 94"/>
          <p:cNvSpPr/>
          <p:nvPr/>
        </p:nvSpPr>
        <p:spPr>
          <a:xfrm>
            <a:off x="1765622" y="4122948"/>
            <a:ext cx="128671"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&lt;1h</a:t>
            </a:r>
            <a:endParaRPr lang="en-US" sz="485" dirty="0"/>
          </a:p>
        </p:txBody>
      </p:sp>
      <p:sp>
        <p:nvSpPr>
          <p:cNvPr id="118" name="Text 95"/>
          <p:cNvSpPr/>
          <p:nvPr/>
        </p:nvSpPr>
        <p:spPr>
          <a:xfrm>
            <a:off x="1951444" y="4122948"/>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119" name="Text 96"/>
          <p:cNvSpPr/>
          <p:nvPr/>
        </p:nvSpPr>
        <p:spPr>
          <a:xfrm>
            <a:off x="2177839" y="4122948"/>
            <a:ext cx="192742"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&lt;15m</a:t>
            </a:r>
            <a:endParaRPr lang="en-US" sz="485" dirty="0"/>
          </a:p>
        </p:txBody>
      </p:sp>
      <p:pic>
        <p:nvPicPr>
          <p:cNvPr id="120" name="Image 20" descr="preencoded.png">    </p:cNvPr>
          <p:cNvPicPr>
            <a:picLocks noChangeAspect="1"/>
          </p:cNvPicPr>
          <p:nvPr/>
        </p:nvPicPr>
        <p:blipFill>
          <a:blip r:embed="rId21"/>
          <a:stretch>
            <a:fillRect/>
          </a:stretch>
        </p:blipFill>
        <p:spPr>
          <a:xfrm>
            <a:off x="3417391" y="3844872"/>
            <a:ext cx="80367" cy="128588"/>
          </a:xfrm>
          <a:prstGeom prst="rect">
            <a:avLst/>
          </a:prstGeom>
        </p:spPr>
      </p:pic>
      <p:sp>
        <p:nvSpPr>
          <p:cNvPr id="121" name="Shape 97"/>
          <p:cNvSpPr/>
          <p:nvPr/>
        </p:nvSpPr>
        <p:spPr>
          <a:xfrm>
            <a:off x="4786313" y="3582898"/>
            <a:ext cx="342900" cy="342900"/>
          </a:xfrm>
          <a:prstGeom prst="rect">
            <a:avLst/>
          </a:prstGeom>
          <a:solidFill>
            <a:srgbClr val="FFFFFF"/>
          </a:solidFill>
          <a:ln w="9144">
            <a:solidFill>
              <a:srgbClr val="E2E8F0"/>
            </a:solidFill>
            <a:prstDash val="solid"/>
          </a:ln>
        </p:spPr>
      </p:sp>
      <p:pic>
        <p:nvPicPr>
          <p:cNvPr id="122" name="Image 21" descr="preencoded.png">    </p:cNvPr>
          <p:cNvPicPr>
            <a:picLocks noChangeAspect="1"/>
          </p:cNvPicPr>
          <p:nvPr/>
        </p:nvPicPr>
        <p:blipFill>
          <a:blip r:embed="rId22"/>
          <a:stretch>
            <a:fillRect/>
          </a:stretch>
        </p:blipFill>
        <p:spPr>
          <a:xfrm>
            <a:off x="4904184" y="3668623"/>
            <a:ext cx="107156" cy="171450"/>
          </a:xfrm>
          <a:prstGeom prst="rect">
            <a:avLst/>
          </a:prstGeom>
        </p:spPr>
      </p:pic>
      <p:sp>
        <p:nvSpPr>
          <p:cNvPr id="123" name="Text 98"/>
          <p:cNvSpPr/>
          <p:nvPr/>
        </p:nvSpPr>
        <p:spPr>
          <a:xfrm>
            <a:off x="4459374" y="3968660"/>
            <a:ext cx="996776"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Active-Warm Standby</a:t>
            </a:r>
            <a:endParaRPr lang="en-US" sz="634" dirty="0"/>
          </a:p>
        </p:txBody>
      </p:sp>
      <p:sp>
        <p:nvSpPr>
          <p:cNvPr id="124" name="Shape 99"/>
          <p:cNvSpPr/>
          <p:nvPr/>
        </p:nvSpPr>
        <p:spPr>
          <a:xfrm>
            <a:off x="4475783" y="4108661"/>
            <a:ext cx="963932" cy="126802"/>
          </a:xfrm>
          <a:prstGeom prst="rect">
            <a:avLst/>
          </a:prstGeom>
          <a:solidFill>
            <a:srgbClr val="EDF2F7"/>
          </a:solidFill>
          <a:ln/>
        </p:spPr>
      </p:sp>
      <p:sp>
        <p:nvSpPr>
          <p:cNvPr id="125" name="Text 100"/>
          <p:cNvSpPr/>
          <p:nvPr/>
        </p:nvSpPr>
        <p:spPr>
          <a:xfrm>
            <a:off x="4532933" y="4122948"/>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126" name="Text 101"/>
          <p:cNvSpPr/>
          <p:nvPr/>
        </p:nvSpPr>
        <p:spPr>
          <a:xfrm>
            <a:off x="4754389" y="4122948"/>
            <a:ext cx="192742"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&lt;15m</a:t>
            </a:r>
            <a:endParaRPr lang="en-US" sz="485" dirty="0"/>
          </a:p>
        </p:txBody>
      </p:sp>
      <p:sp>
        <p:nvSpPr>
          <p:cNvPr id="127" name="Text 102"/>
          <p:cNvSpPr/>
          <p:nvPr/>
        </p:nvSpPr>
        <p:spPr>
          <a:xfrm>
            <a:off x="5004281" y="4122948"/>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128" name="Text 103"/>
          <p:cNvSpPr/>
          <p:nvPr/>
        </p:nvSpPr>
        <p:spPr>
          <a:xfrm>
            <a:off x="5230676" y="4122948"/>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&lt;5m</a:t>
            </a:r>
            <a:endParaRPr lang="en-US" sz="485" dirty="0"/>
          </a:p>
        </p:txBody>
      </p:sp>
      <p:sp>
        <p:nvSpPr>
          <p:cNvPr id="129" name="Shape 104"/>
          <p:cNvSpPr/>
          <p:nvPr/>
        </p:nvSpPr>
        <p:spPr>
          <a:xfrm>
            <a:off x="7100888" y="3511460"/>
            <a:ext cx="1714500" cy="795440"/>
          </a:xfrm>
          <a:prstGeom prst="rect">
            <a:avLst/>
          </a:prstGeom>
          <a:solidFill>
            <a:srgbClr val="EBF8FF"/>
          </a:solidFill>
          <a:ln w="18288">
            <a:solidFill>
              <a:srgbClr val="3182CE"/>
            </a:solidFill>
            <a:prstDash val="solid"/>
          </a:ln>
        </p:spPr>
      </p:sp>
      <p:sp>
        <p:nvSpPr>
          <p:cNvPr id="130" name="Shape 105"/>
          <p:cNvSpPr/>
          <p:nvPr/>
        </p:nvSpPr>
        <p:spPr>
          <a:xfrm>
            <a:off x="7786688" y="3568610"/>
            <a:ext cx="342900" cy="342900"/>
          </a:xfrm>
          <a:prstGeom prst="rect">
            <a:avLst/>
          </a:prstGeom>
          <a:solidFill>
            <a:srgbClr val="FFFFFF"/>
          </a:solidFill>
          <a:ln w="9144">
            <a:solidFill>
              <a:srgbClr val="E2E8F0"/>
            </a:solidFill>
            <a:prstDash val="solid"/>
          </a:ln>
        </p:spPr>
      </p:sp>
      <p:pic>
        <p:nvPicPr>
          <p:cNvPr id="131" name="Image 22" descr="preencoded.png">    </p:cNvPr>
          <p:cNvPicPr>
            <a:picLocks noChangeAspect="1"/>
          </p:cNvPicPr>
          <p:nvPr/>
        </p:nvPicPr>
        <p:blipFill>
          <a:blip r:embed="rId23"/>
          <a:stretch>
            <a:fillRect/>
          </a:stretch>
        </p:blipFill>
        <p:spPr>
          <a:xfrm>
            <a:off x="7872413" y="3654335"/>
            <a:ext cx="171450" cy="171450"/>
          </a:xfrm>
          <a:prstGeom prst="rect">
            <a:avLst/>
          </a:prstGeom>
        </p:spPr>
      </p:pic>
      <p:sp>
        <p:nvSpPr>
          <p:cNvPr id="132" name="Text 106"/>
          <p:cNvSpPr/>
          <p:nvPr/>
        </p:nvSpPr>
        <p:spPr>
          <a:xfrm>
            <a:off x="7519495" y="3954373"/>
            <a:ext cx="877258"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3182CE"/>
                </a:solidFill>
              </a:rPr>
              <a:t>Aurora PostgreSQL</a:t>
            </a:r>
            <a:endParaRPr lang="en-US" sz="634" dirty="0"/>
          </a:p>
        </p:txBody>
      </p:sp>
      <p:sp>
        <p:nvSpPr>
          <p:cNvPr id="133" name="Shape 107"/>
          <p:cNvSpPr/>
          <p:nvPr/>
        </p:nvSpPr>
        <p:spPr>
          <a:xfrm>
            <a:off x="7493124" y="4094373"/>
            <a:ext cx="929999" cy="126802"/>
          </a:xfrm>
          <a:prstGeom prst="rect">
            <a:avLst/>
          </a:prstGeom>
          <a:solidFill>
            <a:srgbClr val="EDF2F7"/>
          </a:solidFill>
          <a:ln/>
        </p:spPr>
      </p:sp>
      <p:sp>
        <p:nvSpPr>
          <p:cNvPr id="134" name="Text 108"/>
          <p:cNvSpPr/>
          <p:nvPr/>
        </p:nvSpPr>
        <p:spPr>
          <a:xfrm>
            <a:off x="7550274" y="4108661"/>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135" name="Text 109"/>
          <p:cNvSpPr/>
          <p:nvPr/>
        </p:nvSpPr>
        <p:spPr>
          <a:xfrm>
            <a:off x="7771730" y="4108661"/>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&lt;1m</a:t>
            </a:r>
            <a:endParaRPr lang="en-US" sz="485" dirty="0"/>
          </a:p>
        </p:txBody>
      </p:sp>
      <p:sp>
        <p:nvSpPr>
          <p:cNvPr id="136" name="Text 110"/>
          <p:cNvSpPr/>
          <p:nvPr/>
        </p:nvSpPr>
        <p:spPr>
          <a:xfrm>
            <a:off x="7980769" y="4108661"/>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137" name="Text 111"/>
          <p:cNvSpPr/>
          <p:nvPr/>
        </p:nvSpPr>
        <p:spPr>
          <a:xfrm>
            <a:off x="8207164" y="4108661"/>
            <a:ext cx="158809"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Zero</a:t>
            </a:r>
            <a:endParaRPr lang="en-US" sz="48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285750"/>
            <a:ext cx="8286750" cy="428625"/>
          </a:xfrm>
          <a:prstGeom prst="rect">
            <a:avLst/>
          </a:prstGeom>
          <a:noFill/>
          <a:ln/>
        </p:spPr>
        <p:txBody>
          <a:bodyPr wrap="none" lIns="0" tIns="0" rIns="0" bIns="0" rtlCol="0" anchor="t">
            <a:spAutoFit/>
          </a:bodyPr>
          <a:lstStyle/>
          <a:p>
            <a:pPr algn="ctr" indent="0" marL="0">
              <a:lnSpc>
                <a:spcPts val="3000"/>
              </a:lnSpc>
              <a:buNone/>
            </a:pPr>
            <a:r>
              <a:rPr lang="en-US" sz="2226" b="1" dirty="0">
                <a:solidFill>
                  <a:srgbClr val="000000"/>
                </a:solidFill>
              </a:rPr>
              <a:t>Application-Centric Team Structure</a:t>
            </a:r>
            <a:endParaRPr lang="en-US" sz="2226" dirty="0"/>
          </a:p>
        </p:txBody>
      </p:sp>
      <p:sp>
        <p:nvSpPr>
          <p:cNvPr id="4" name="Text 1"/>
          <p:cNvSpPr/>
          <p:nvPr/>
        </p:nvSpPr>
        <p:spPr>
          <a:xfrm>
            <a:off x="428625" y="750094"/>
            <a:ext cx="8286750" cy="214313"/>
          </a:xfrm>
          <a:prstGeom prst="rect">
            <a:avLst/>
          </a:prstGeom>
          <a:noFill/>
          <a:ln/>
        </p:spPr>
        <p:txBody>
          <a:bodyPr wrap="none" lIns="0" tIns="0" rIns="0" bIns="0" rtlCol="0" anchor="t">
            <a:spAutoFit/>
          </a:bodyPr>
          <a:lstStyle/>
          <a:p>
            <a:pPr algn="ctr" indent="0" marL="0">
              <a:lnSpc>
                <a:spcPts val="1500"/>
              </a:lnSpc>
              <a:buNone/>
            </a:pPr>
            <a:r>
              <a:rPr lang="en-US" sz="1159" dirty="0">
                <a:solidFill>
                  <a:srgbClr val="666666"/>
                </a:solidFill>
              </a:rPr>
              <a:t>Dedicated cross-functional teams for each modernization stream</a:t>
            </a:r>
            <a:endParaRPr lang="en-US" sz="1159" dirty="0"/>
          </a:p>
        </p:txBody>
      </p:sp>
      <p:sp>
        <p:nvSpPr>
          <p:cNvPr id="5" name="Shape 2"/>
          <p:cNvSpPr/>
          <p:nvPr/>
        </p:nvSpPr>
        <p:spPr>
          <a:xfrm>
            <a:off x="428625" y="1250156"/>
            <a:ext cx="1991320" cy="3186113"/>
          </a:xfrm>
          <a:prstGeom prst="rect">
            <a:avLst/>
          </a:prstGeom>
          <a:solidFill>
            <a:srgbClr val="F8F9FA"/>
          </a:solidFill>
          <a:ln/>
        </p:spPr>
      </p:sp>
      <p:sp>
        <p:nvSpPr>
          <p:cNvPr id="6" name="Shape 3"/>
          <p:cNvSpPr/>
          <p:nvPr/>
        </p:nvSpPr>
        <p:spPr>
          <a:xfrm>
            <a:off x="428625" y="1250156"/>
            <a:ext cx="1991320" cy="35719"/>
          </a:xfrm>
          <a:prstGeom prst="rect">
            <a:avLst/>
          </a:prstGeom>
          <a:solidFill>
            <a:srgbClr val="3182CE"/>
          </a:solidFill>
          <a:ln/>
        </p:spPr>
      </p:sp>
      <p:sp>
        <p:nvSpPr>
          <p:cNvPr id="7" name="Shape 4"/>
          <p:cNvSpPr/>
          <p:nvPr/>
        </p:nvSpPr>
        <p:spPr>
          <a:xfrm>
            <a:off x="2412802" y="1250156"/>
            <a:ext cx="7144" cy="3186113"/>
          </a:xfrm>
          <a:prstGeom prst="rect">
            <a:avLst/>
          </a:prstGeom>
          <a:solidFill>
            <a:srgbClr val="E0E0E0"/>
          </a:solidFill>
          <a:ln/>
        </p:spPr>
      </p:sp>
      <p:sp>
        <p:nvSpPr>
          <p:cNvPr id="8" name="Shape 5"/>
          <p:cNvSpPr/>
          <p:nvPr/>
        </p:nvSpPr>
        <p:spPr>
          <a:xfrm>
            <a:off x="428625" y="4429125"/>
            <a:ext cx="1991320" cy="7144"/>
          </a:xfrm>
          <a:prstGeom prst="rect">
            <a:avLst/>
          </a:prstGeom>
          <a:solidFill>
            <a:srgbClr val="E0E0E0"/>
          </a:solidFill>
          <a:ln/>
        </p:spPr>
      </p:sp>
      <p:sp>
        <p:nvSpPr>
          <p:cNvPr id="9" name="Shape 6"/>
          <p:cNvSpPr/>
          <p:nvPr/>
        </p:nvSpPr>
        <p:spPr>
          <a:xfrm>
            <a:off x="428625" y="1250156"/>
            <a:ext cx="7144" cy="3186113"/>
          </a:xfrm>
          <a:prstGeom prst="rect">
            <a:avLst/>
          </a:prstGeom>
          <a:solidFill>
            <a:srgbClr val="E0E0E0"/>
          </a:solidFill>
          <a:ln/>
        </p:spPr>
      </p:sp>
      <p:sp>
        <p:nvSpPr>
          <p:cNvPr id="10" name="Shape 7"/>
          <p:cNvSpPr/>
          <p:nvPr/>
        </p:nvSpPr>
        <p:spPr>
          <a:xfrm>
            <a:off x="1204615" y="1428750"/>
            <a:ext cx="428625" cy="428625"/>
          </a:xfrm>
          <a:prstGeom prst="ellipse">
            <a:avLst/>
          </a:prstGeom>
          <a:solidFill>
            <a:srgbClr val="EBF8FF"/>
          </a:solidFill>
          <a:ln/>
        </p:spPr>
      </p:sp>
      <p:pic>
        <p:nvPicPr>
          <p:cNvPr id="11" name="Image 1" descr="preencoded.png">    </p:cNvPr>
          <p:cNvPicPr>
            <a:picLocks noChangeAspect="1"/>
          </p:cNvPicPr>
          <p:nvPr/>
        </p:nvPicPr>
        <p:blipFill>
          <a:blip r:embed="rId2"/>
          <a:stretch>
            <a:fillRect/>
          </a:stretch>
        </p:blipFill>
        <p:spPr>
          <a:xfrm>
            <a:off x="1293912" y="1543050"/>
            <a:ext cx="250031" cy="200025"/>
          </a:xfrm>
          <a:prstGeom prst="rect">
            <a:avLst/>
          </a:prstGeom>
        </p:spPr>
      </p:pic>
      <p:sp>
        <p:nvSpPr>
          <p:cNvPr id="12" name="Text 8"/>
          <p:cNvSpPr/>
          <p:nvPr/>
        </p:nvSpPr>
        <p:spPr>
          <a:xfrm>
            <a:off x="962983" y="2000250"/>
            <a:ext cx="911861" cy="214313"/>
          </a:xfrm>
          <a:prstGeom prst="rect">
            <a:avLst/>
          </a:prstGeom>
          <a:noFill/>
          <a:ln/>
        </p:spPr>
        <p:txBody>
          <a:bodyPr wrap="none" lIns="0" tIns="0" rIns="0" bIns="0" rtlCol="0" anchor="t">
            <a:spAutoFit/>
          </a:bodyPr>
          <a:lstStyle/>
          <a:p>
            <a:pPr algn="ctr" indent="0" marL="0">
              <a:lnSpc>
                <a:spcPts val="1500"/>
              </a:lnSpc>
              <a:buNone/>
            </a:pPr>
            <a:r>
              <a:rPr lang="en-US" sz="1090" b="1" dirty="0">
                <a:solidFill>
                  <a:srgbClr val="2D3748"/>
                </a:solidFill>
              </a:rPr>
              <a:t>Team App 1</a:t>
            </a:r>
            <a:endParaRPr lang="en-US" sz="1090" dirty="0"/>
          </a:p>
        </p:txBody>
      </p:sp>
      <p:sp>
        <p:nvSpPr>
          <p:cNvPr id="13" name="Text 9"/>
          <p:cNvSpPr/>
          <p:nvPr/>
        </p:nvSpPr>
        <p:spPr>
          <a:xfrm>
            <a:off x="892913" y="2250281"/>
            <a:ext cx="1052029" cy="116086"/>
          </a:xfrm>
          <a:prstGeom prst="rect">
            <a:avLst/>
          </a:prstGeom>
          <a:noFill/>
          <a:ln/>
        </p:spPr>
        <p:txBody>
          <a:bodyPr wrap="none" lIns="0" tIns="0" rIns="0" bIns="0" rtlCol="0" anchor="t">
            <a:spAutoFit/>
          </a:bodyPr>
          <a:lstStyle/>
          <a:p>
            <a:pPr algn="ctr" indent="0" marL="0">
              <a:lnSpc>
                <a:spcPts val="800"/>
              </a:lnSpc>
              <a:buNone/>
            </a:pPr>
            <a:r>
              <a:rPr lang="en-US" sz="584" b="1" dirty="0">
                <a:solidFill>
                  <a:srgbClr val="3182CE"/>
                </a:solidFill>
              </a:rPr>
              <a:t>Oracle RDS Migration</a:t>
            </a:r>
            <a:endParaRPr lang="en-US" sz="584" dirty="0"/>
          </a:p>
        </p:txBody>
      </p:sp>
      <p:sp>
        <p:nvSpPr>
          <p:cNvPr id="14" name="Text 10"/>
          <p:cNvSpPr/>
          <p:nvPr/>
        </p:nvSpPr>
        <p:spPr>
          <a:xfrm>
            <a:off x="535781" y="2473523"/>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3182CE"/>
                </a:solidFill>
              </a:rPr>
              <a:t>•</a:t>
            </a:r>
            <a:endParaRPr lang="en-US" sz="683" dirty="0"/>
          </a:p>
        </p:txBody>
      </p:sp>
      <p:sp>
        <p:nvSpPr>
          <p:cNvPr id="15" name="Text 11"/>
          <p:cNvSpPr/>
          <p:nvPr/>
        </p:nvSpPr>
        <p:spPr>
          <a:xfrm>
            <a:off x="678656" y="2475309"/>
            <a:ext cx="1185863"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5568"/>
                </a:solidFill>
              </a:rPr>
              <a:t>Application Delivery Lead</a:t>
            </a:r>
            <a:endParaRPr lang="en-US" sz="727" dirty="0"/>
          </a:p>
        </p:txBody>
      </p:sp>
      <p:sp>
        <p:nvSpPr>
          <p:cNvPr id="16" name="Text 12"/>
          <p:cNvSpPr/>
          <p:nvPr/>
        </p:nvSpPr>
        <p:spPr>
          <a:xfrm>
            <a:off x="535781" y="2684962"/>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3182CE"/>
                </a:solidFill>
              </a:rPr>
              <a:t>•</a:t>
            </a:r>
            <a:endParaRPr lang="en-US" sz="683" dirty="0"/>
          </a:p>
        </p:txBody>
      </p:sp>
      <p:sp>
        <p:nvSpPr>
          <p:cNvPr id="17" name="Text 13"/>
          <p:cNvSpPr/>
          <p:nvPr/>
        </p:nvSpPr>
        <p:spPr>
          <a:xfrm>
            <a:off x="678656" y="2686748"/>
            <a:ext cx="1251775"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5568"/>
                </a:solidFill>
              </a:rPr>
              <a:t>Oracle Migration Specialist</a:t>
            </a:r>
            <a:endParaRPr lang="en-US" sz="727" dirty="0"/>
          </a:p>
        </p:txBody>
      </p:sp>
      <p:sp>
        <p:nvSpPr>
          <p:cNvPr id="18" name="Text 14"/>
          <p:cNvSpPr/>
          <p:nvPr/>
        </p:nvSpPr>
        <p:spPr>
          <a:xfrm>
            <a:off x="535781" y="2896400"/>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3182CE"/>
                </a:solidFill>
              </a:rPr>
              <a:t>•</a:t>
            </a:r>
            <a:endParaRPr lang="en-US" sz="683" dirty="0"/>
          </a:p>
        </p:txBody>
      </p:sp>
      <p:sp>
        <p:nvSpPr>
          <p:cNvPr id="19" name="Text 15"/>
          <p:cNvSpPr/>
          <p:nvPr/>
        </p:nvSpPr>
        <p:spPr>
          <a:xfrm>
            <a:off x="678656" y="2898186"/>
            <a:ext cx="926929"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5568"/>
                </a:solidFill>
              </a:rPr>
              <a:t>Aurora PG Engineer</a:t>
            </a:r>
            <a:endParaRPr lang="en-US" sz="727" dirty="0"/>
          </a:p>
        </p:txBody>
      </p:sp>
      <p:sp>
        <p:nvSpPr>
          <p:cNvPr id="20" name="Text 16"/>
          <p:cNvSpPr/>
          <p:nvPr/>
        </p:nvSpPr>
        <p:spPr>
          <a:xfrm>
            <a:off x="535781" y="3107838"/>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3182CE"/>
                </a:solidFill>
              </a:rPr>
              <a:t>•</a:t>
            </a:r>
            <a:endParaRPr lang="en-US" sz="683" dirty="0"/>
          </a:p>
        </p:txBody>
      </p:sp>
      <p:sp>
        <p:nvSpPr>
          <p:cNvPr id="21" name="Text 17"/>
          <p:cNvSpPr/>
          <p:nvPr/>
        </p:nvSpPr>
        <p:spPr>
          <a:xfrm>
            <a:off x="678656" y="3109624"/>
            <a:ext cx="1077646"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5568"/>
                </a:solidFill>
              </a:rPr>
              <a:t>DevOps &amp; QA Engineer</a:t>
            </a:r>
            <a:endParaRPr lang="en-US" sz="727" dirty="0"/>
          </a:p>
        </p:txBody>
      </p:sp>
      <p:sp>
        <p:nvSpPr>
          <p:cNvPr id="22" name="Shape 18"/>
          <p:cNvSpPr/>
          <p:nvPr/>
        </p:nvSpPr>
        <p:spPr>
          <a:xfrm>
            <a:off x="2516386" y="1250156"/>
            <a:ext cx="1994892" cy="3186113"/>
          </a:xfrm>
          <a:prstGeom prst="rect">
            <a:avLst/>
          </a:prstGeom>
          <a:solidFill>
            <a:srgbClr val="F8F9FA"/>
          </a:solidFill>
          <a:ln/>
        </p:spPr>
      </p:sp>
      <p:sp>
        <p:nvSpPr>
          <p:cNvPr id="23" name="Shape 19"/>
          <p:cNvSpPr/>
          <p:nvPr/>
        </p:nvSpPr>
        <p:spPr>
          <a:xfrm>
            <a:off x="2516386" y="1250156"/>
            <a:ext cx="1994892" cy="35719"/>
          </a:xfrm>
          <a:prstGeom prst="rect">
            <a:avLst/>
          </a:prstGeom>
          <a:solidFill>
            <a:srgbClr val="3182CE"/>
          </a:solidFill>
          <a:ln/>
        </p:spPr>
      </p:sp>
      <p:sp>
        <p:nvSpPr>
          <p:cNvPr id="24" name="Shape 20"/>
          <p:cNvSpPr/>
          <p:nvPr/>
        </p:nvSpPr>
        <p:spPr>
          <a:xfrm>
            <a:off x="4504134" y="1250156"/>
            <a:ext cx="7144" cy="3186113"/>
          </a:xfrm>
          <a:prstGeom prst="rect">
            <a:avLst/>
          </a:prstGeom>
          <a:solidFill>
            <a:srgbClr val="E0E0E0"/>
          </a:solidFill>
          <a:ln/>
        </p:spPr>
      </p:sp>
      <p:sp>
        <p:nvSpPr>
          <p:cNvPr id="25" name="Shape 21"/>
          <p:cNvSpPr/>
          <p:nvPr/>
        </p:nvSpPr>
        <p:spPr>
          <a:xfrm>
            <a:off x="2516386" y="4429125"/>
            <a:ext cx="1994892" cy="7144"/>
          </a:xfrm>
          <a:prstGeom prst="rect">
            <a:avLst/>
          </a:prstGeom>
          <a:solidFill>
            <a:srgbClr val="E0E0E0"/>
          </a:solidFill>
          <a:ln/>
        </p:spPr>
      </p:sp>
      <p:sp>
        <p:nvSpPr>
          <p:cNvPr id="26" name="Shape 22"/>
          <p:cNvSpPr/>
          <p:nvPr/>
        </p:nvSpPr>
        <p:spPr>
          <a:xfrm>
            <a:off x="2516386" y="1250156"/>
            <a:ext cx="7144" cy="3186113"/>
          </a:xfrm>
          <a:prstGeom prst="rect">
            <a:avLst/>
          </a:prstGeom>
          <a:solidFill>
            <a:srgbClr val="E0E0E0"/>
          </a:solidFill>
          <a:ln/>
        </p:spPr>
      </p:sp>
      <p:sp>
        <p:nvSpPr>
          <p:cNvPr id="27" name="Shape 23"/>
          <p:cNvSpPr/>
          <p:nvPr/>
        </p:nvSpPr>
        <p:spPr>
          <a:xfrm>
            <a:off x="3297734" y="1428750"/>
            <a:ext cx="428625" cy="428625"/>
          </a:xfrm>
          <a:prstGeom prst="ellipse">
            <a:avLst/>
          </a:prstGeom>
          <a:solidFill>
            <a:srgbClr val="EBF8FF"/>
          </a:solidFill>
          <a:ln/>
        </p:spPr>
      </p:sp>
      <p:pic>
        <p:nvPicPr>
          <p:cNvPr id="28" name="Image 2" descr="preencoded.png">    </p:cNvPr>
          <p:cNvPicPr>
            <a:picLocks noChangeAspect="1"/>
          </p:cNvPicPr>
          <p:nvPr/>
        </p:nvPicPr>
        <p:blipFill>
          <a:blip r:embed="rId3"/>
          <a:stretch>
            <a:fillRect/>
          </a:stretch>
        </p:blipFill>
        <p:spPr>
          <a:xfrm>
            <a:off x="3437037" y="1543050"/>
            <a:ext cx="150019" cy="200025"/>
          </a:xfrm>
          <a:prstGeom prst="rect">
            <a:avLst/>
          </a:prstGeom>
        </p:spPr>
      </p:pic>
      <p:sp>
        <p:nvSpPr>
          <p:cNvPr id="29" name="Text 24"/>
          <p:cNvSpPr/>
          <p:nvPr/>
        </p:nvSpPr>
        <p:spPr>
          <a:xfrm>
            <a:off x="3056102" y="2000250"/>
            <a:ext cx="911861" cy="214313"/>
          </a:xfrm>
          <a:prstGeom prst="rect">
            <a:avLst/>
          </a:prstGeom>
          <a:noFill/>
          <a:ln/>
        </p:spPr>
        <p:txBody>
          <a:bodyPr wrap="none" lIns="0" tIns="0" rIns="0" bIns="0" rtlCol="0" anchor="t">
            <a:spAutoFit/>
          </a:bodyPr>
          <a:lstStyle/>
          <a:p>
            <a:pPr algn="ctr" indent="0" marL="0">
              <a:lnSpc>
                <a:spcPts val="1500"/>
              </a:lnSpc>
              <a:buNone/>
            </a:pPr>
            <a:r>
              <a:rPr lang="en-US" sz="1090" b="1" dirty="0">
                <a:solidFill>
                  <a:srgbClr val="2D3748"/>
                </a:solidFill>
              </a:rPr>
              <a:t>Team App 2</a:t>
            </a:r>
            <a:endParaRPr lang="en-US" sz="1090" dirty="0"/>
          </a:p>
        </p:txBody>
      </p:sp>
      <p:sp>
        <p:nvSpPr>
          <p:cNvPr id="30" name="Text 25"/>
          <p:cNvSpPr/>
          <p:nvPr/>
        </p:nvSpPr>
        <p:spPr>
          <a:xfrm>
            <a:off x="2877620" y="2250281"/>
            <a:ext cx="1268825" cy="116086"/>
          </a:xfrm>
          <a:prstGeom prst="rect">
            <a:avLst/>
          </a:prstGeom>
          <a:noFill/>
          <a:ln/>
        </p:spPr>
        <p:txBody>
          <a:bodyPr wrap="none" lIns="0" tIns="0" rIns="0" bIns="0" rtlCol="0" anchor="t">
            <a:spAutoFit/>
          </a:bodyPr>
          <a:lstStyle/>
          <a:p>
            <a:pPr algn="ctr" indent="0" marL="0">
              <a:lnSpc>
                <a:spcPts val="800"/>
              </a:lnSpc>
              <a:buNone/>
            </a:pPr>
            <a:r>
              <a:rPr lang="en-US" sz="584" b="1" dirty="0">
                <a:solidFill>
                  <a:srgbClr val="3182CE"/>
                </a:solidFill>
              </a:rPr>
              <a:t>Aurora PG Modernization</a:t>
            </a:r>
            <a:endParaRPr lang="en-US" sz="584" dirty="0"/>
          </a:p>
        </p:txBody>
      </p:sp>
      <p:sp>
        <p:nvSpPr>
          <p:cNvPr id="31" name="Text 26"/>
          <p:cNvSpPr/>
          <p:nvPr/>
        </p:nvSpPr>
        <p:spPr>
          <a:xfrm>
            <a:off x="2627114" y="2473523"/>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3182CE"/>
                </a:solidFill>
              </a:rPr>
              <a:t>•</a:t>
            </a:r>
            <a:endParaRPr lang="en-US" sz="683" dirty="0"/>
          </a:p>
        </p:txBody>
      </p:sp>
      <p:sp>
        <p:nvSpPr>
          <p:cNvPr id="32" name="Text 27"/>
          <p:cNvSpPr/>
          <p:nvPr/>
        </p:nvSpPr>
        <p:spPr>
          <a:xfrm>
            <a:off x="2769989" y="2475309"/>
            <a:ext cx="1036737"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5568"/>
                </a:solidFill>
              </a:rPr>
              <a:t>Mobile Stack Architect</a:t>
            </a:r>
            <a:endParaRPr lang="en-US" sz="727" dirty="0"/>
          </a:p>
        </p:txBody>
      </p:sp>
      <p:sp>
        <p:nvSpPr>
          <p:cNvPr id="33" name="Text 28"/>
          <p:cNvSpPr/>
          <p:nvPr/>
        </p:nvSpPr>
        <p:spPr>
          <a:xfrm>
            <a:off x="2627114" y="2684962"/>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3182CE"/>
                </a:solidFill>
              </a:rPr>
              <a:t>•</a:t>
            </a:r>
            <a:endParaRPr lang="en-US" sz="683" dirty="0"/>
          </a:p>
        </p:txBody>
      </p:sp>
      <p:sp>
        <p:nvSpPr>
          <p:cNvPr id="34" name="Text 29"/>
          <p:cNvSpPr/>
          <p:nvPr/>
        </p:nvSpPr>
        <p:spPr>
          <a:xfrm>
            <a:off x="2769989" y="2686748"/>
            <a:ext cx="1112444"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5568"/>
                </a:solidFill>
              </a:rPr>
              <a:t>Cloud-Native Developer</a:t>
            </a:r>
            <a:endParaRPr lang="en-US" sz="727" dirty="0"/>
          </a:p>
        </p:txBody>
      </p:sp>
      <p:sp>
        <p:nvSpPr>
          <p:cNvPr id="35" name="Text 30"/>
          <p:cNvSpPr/>
          <p:nvPr/>
        </p:nvSpPr>
        <p:spPr>
          <a:xfrm>
            <a:off x="2627114" y="2896400"/>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3182CE"/>
                </a:solidFill>
              </a:rPr>
              <a:t>•</a:t>
            </a:r>
            <a:endParaRPr lang="en-US" sz="683" dirty="0"/>
          </a:p>
        </p:txBody>
      </p:sp>
      <p:sp>
        <p:nvSpPr>
          <p:cNvPr id="36" name="Text 31"/>
          <p:cNvSpPr/>
          <p:nvPr/>
        </p:nvSpPr>
        <p:spPr>
          <a:xfrm>
            <a:off x="2769989" y="2898186"/>
            <a:ext cx="1056940"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5568"/>
                </a:solidFill>
              </a:rPr>
              <a:t>Performance Engineer</a:t>
            </a:r>
            <a:endParaRPr lang="en-US" sz="727" dirty="0"/>
          </a:p>
        </p:txBody>
      </p:sp>
      <p:sp>
        <p:nvSpPr>
          <p:cNvPr id="37" name="Text 32"/>
          <p:cNvSpPr/>
          <p:nvPr/>
        </p:nvSpPr>
        <p:spPr>
          <a:xfrm>
            <a:off x="2627114" y="3107838"/>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3182CE"/>
                </a:solidFill>
              </a:rPr>
              <a:t>•</a:t>
            </a:r>
            <a:endParaRPr lang="en-US" sz="683" dirty="0"/>
          </a:p>
        </p:txBody>
      </p:sp>
      <p:sp>
        <p:nvSpPr>
          <p:cNvPr id="38" name="Text 33"/>
          <p:cNvSpPr/>
          <p:nvPr/>
        </p:nvSpPr>
        <p:spPr>
          <a:xfrm>
            <a:off x="2769989" y="3109624"/>
            <a:ext cx="928018"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5568"/>
                </a:solidFill>
              </a:rPr>
              <a:t>SRE &amp; Support Lead</a:t>
            </a:r>
            <a:endParaRPr lang="en-US" sz="727" dirty="0"/>
          </a:p>
        </p:txBody>
      </p:sp>
      <p:sp>
        <p:nvSpPr>
          <p:cNvPr id="39" name="Shape 34"/>
          <p:cNvSpPr/>
          <p:nvPr/>
        </p:nvSpPr>
        <p:spPr>
          <a:xfrm>
            <a:off x="4611291" y="1250156"/>
            <a:ext cx="1998464" cy="3186113"/>
          </a:xfrm>
          <a:prstGeom prst="rect">
            <a:avLst/>
          </a:prstGeom>
          <a:solidFill>
            <a:srgbClr val="F8F9FA"/>
          </a:solidFill>
          <a:ln/>
        </p:spPr>
      </p:sp>
      <p:sp>
        <p:nvSpPr>
          <p:cNvPr id="40" name="Shape 35"/>
          <p:cNvSpPr/>
          <p:nvPr/>
        </p:nvSpPr>
        <p:spPr>
          <a:xfrm>
            <a:off x="4611291" y="1250156"/>
            <a:ext cx="1998464" cy="35719"/>
          </a:xfrm>
          <a:prstGeom prst="rect">
            <a:avLst/>
          </a:prstGeom>
          <a:solidFill>
            <a:srgbClr val="3182CE"/>
          </a:solidFill>
          <a:ln/>
        </p:spPr>
      </p:sp>
      <p:sp>
        <p:nvSpPr>
          <p:cNvPr id="41" name="Shape 36"/>
          <p:cNvSpPr/>
          <p:nvPr/>
        </p:nvSpPr>
        <p:spPr>
          <a:xfrm>
            <a:off x="6602611" y="1250156"/>
            <a:ext cx="7144" cy="3186113"/>
          </a:xfrm>
          <a:prstGeom prst="rect">
            <a:avLst/>
          </a:prstGeom>
          <a:solidFill>
            <a:srgbClr val="E0E0E0"/>
          </a:solidFill>
          <a:ln/>
        </p:spPr>
      </p:sp>
      <p:sp>
        <p:nvSpPr>
          <p:cNvPr id="42" name="Shape 37"/>
          <p:cNvSpPr/>
          <p:nvPr/>
        </p:nvSpPr>
        <p:spPr>
          <a:xfrm>
            <a:off x="4611291" y="4429125"/>
            <a:ext cx="1998464" cy="7144"/>
          </a:xfrm>
          <a:prstGeom prst="rect">
            <a:avLst/>
          </a:prstGeom>
          <a:solidFill>
            <a:srgbClr val="E0E0E0"/>
          </a:solidFill>
          <a:ln/>
        </p:spPr>
      </p:sp>
      <p:sp>
        <p:nvSpPr>
          <p:cNvPr id="43" name="Shape 38"/>
          <p:cNvSpPr/>
          <p:nvPr/>
        </p:nvSpPr>
        <p:spPr>
          <a:xfrm>
            <a:off x="4611291" y="1250156"/>
            <a:ext cx="7144" cy="3186113"/>
          </a:xfrm>
          <a:prstGeom prst="rect">
            <a:avLst/>
          </a:prstGeom>
          <a:solidFill>
            <a:srgbClr val="E0E0E0"/>
          </a:solidFill>
          <a:ln/>
        </p:spPr>
      </p:sp>
      <p:sp>
        <p:nvSpPr>
          <p:cNvPr id="44" name="Shape 39"/>
          <p:cNvSpPr/>
          <p:nvPr/>
        </p:nvSpPr>
        <p:spPr>
          <a:xfrm>
            <a:off x="5397996" y="1428750"/>
            <a:ext cx="428625" cy="428625"/>
          </a:xfrm>
          <a:prstGeom prst="ellipse">
            <a:avLst/>
          </a:prstGeom>
          <a:solidFill>
            <a:srgbClr val="EBF8FF"/>
          </a:solidFill>
          <a:ln/>
        </p:spPr>
      </p:sp>
      <p:pic>
        <p:nvPicPr>
          <p:cNvPr id="45" name="Image 3" descr="preencoded.png">    </p:cNvPr>
          <p:cNvPicPr>
            <a:picLocks noChangeAspect="1"/>
          </p:cNvPicPr>
          <p:nvPr/>
        </p:nvPicPr>
        <p:blipFill>
          <a:blip r:embed="rId4"/>
          <a:stretch>
            <a:fillRect/>
          </a:stretch>
        </p:blipFill>
        <p:spPr>
          <a:xfrm>
            <a:off x="5487293" y="1543050"/>
            <a:ext cx="250031" cy="200025"/>
          </a:xfrm>
          <a:prstGeom prst="rect">
            <a:avLst/>
          </a:prstGeom>
        </p:spPr>
      </p:pic>
      <p:sp>
        <p:nvSpPr>
          <p:cNvPr id="46" name="Text 40"/>
          <p:cNvSpPr/>
          <p:nvPr/>
        </p:nvSpPr>
        <p:spPr>
          <a:xfrm>
            <a:off x="5156364" y="2000250"/>
            <a:ext cx="911861" cy="214313"/>
          </a:xfrm>
          <a:prstGeom prst="rect">
            <a:avLst/>
          </a:prstGeom>
          <a:noFill/>
          <a:ln/>
        </p:spPr>
        <p:txBody>
          <a:bodyPr wrap="none" lIns="0" tIns="0" rIns="0" bIns="0" rtlCol="0" anchor="t">
            <a:spAutoFit/>
          </a:bodyPr>
          <a:lstStyle/>
          <a:p>
            <a:pPr algn="ctr" indent="0" marL="0">
              <a:lnSpc>
                <a:spcPts val="1500"/>
              </a:lnSpc>
              <a:buNone/>
            </a:pPr>
            <a:r>
              <a:rPr lang="en-US" sz="1090" b="1" dirty="0">
                <a:solidFill>
                  <a:srgbClr val="2D3748"/>
                </a:solidFill>
              </a:rPr>
              <a:t>Team App 3</a:t>
            </a:r>
            <a:endParaRPr lang="en-US" sz="1090" dirty="0"/>
          </a:p>
        </p:txBody>
      </p:sp>
      <p:sp>
        <p:nvSpPr>
          <p:cNvPr id="47" name="Text 41"/>
          <p:cNvSpPr/>
          <p:nvPr/>
        </p:nvSpPr>
        <p:spPr>
          <a:xfrm>
            <a:off x="5086294" y="2250281"/>
            <a:ext cx="1052029" cy="116086"/>
          </a:xfrm>
          <a:prstGeom prst="rect">
            <a:avLst/>
          </a:prstGeom>
          <a:noFill/>
          <a:ln/>
        </p:spPr>
        <p:txBody>
          <a:bodyPr wrap="none" lIns="0" tIns="0" rIns="0" bIns="0" rtlCol="0" anchor="t">
            <a:spAutoFit/>
          </a:bodyPr>
          <a:lstStyle/>
          <a:p>
            <a:pPr algn="ctr" indent="0" marL="0">
              <a:lnSpc>
                <a:spcPts val="800"/>
              </a:lnSpc>
              <a:buNone/>
            </a:pPr>
            <a:r>
              <a:rPr lang="en-US" sz="584" b="1" dirty="0">
                <a:solidFill>
                  <a:srgbClr val="3182CE"/>
                </a:solidFill>
              </a:rPr>
              <a:t>Oracle RDS Migration</a:t>
            </a:r>
            <a:endParaRPr lang="en-US" sz="584" dirty="0"/>
          </a:p>
        </p:txBody>
      </p:sp>
      <p:sp>
        <p:nvSpPr>
          <p:cNvPr id="48" name="Text 42"/>
          <p:cNvSpPr/>
          <p:nvPr/>
        </p:nvSpPr>
        <p:spPr>
          <a:xfrm>
            <a:off x="4725591" y="2473523"/>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3182CE"/>
                </a:solidFill>
              </a:rPr>
              <a:t>•</a:t>
            </a:r>
            <a:endParaRPr lang="en-US" sz="683" dirty="0"/>
          </a:p>
        </p:txBody>
      </p:sp>
      <p:sp>
        <p:nvSpPr>
          <p:cNvPr id="49" name="Text 43"/>
          <p:cNvSpPr/>
          <p:nvPr/>
        </p:nvSpPr>
        <p:spPr>
          <a:xfrm>
            <a:off x="4868466" y="2475309"/>
            <a:ext cx="986144"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5568"/>
                </a:solidFill>
              </a:rPr>
              <a:t>ERP Integration Lead</a:t>
            </a:r>
            <a:endParaRPr lang="en-US" sz="727" dirty="0"/>
          </a:p>
        </p:txBody>
      </p:sp>
      <p:sp>
        <p:nvSpPr>
          <p:cNvPr id="50" name="Text 44"/>
          <p:cNvSpPr/>
          <p:nvPr/>
        </p:nvSpPr>
        <p:spPr>
          <a:xfrm>
            <a:off x="4725591" y="2684962"/>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3182CE"/>
                </a:solidFill>
              </a:rPr>
              <a:t>•</a:t>
            </a:r>
            <a:endParaRPr lang="en-US" sz="683" dirty="0"/>
          </a:p>
        </p:txBody>
      </p:sp>
      <p:sp>
        <p:nvSpPr>
          <p:cNvPr id="51" name="Text 45"/>
          <p:cNvSpPr/>
          <p:nvPr/>
        </p:nvSpPr>
        <p:spPr>
          <a:xfrm>
            <a:off x="4868466" y="2686748"/>
            <a:ext cx="1163650"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5568"/>
                </a:solidFill>
              </a:rPr>
              <a:t>Legacy Schema Architect</a:t>
            </a:r>
            <a:endParaRPr lang="en-US" sz="727" dirty="0"/>
          </a:p>
        </p:txBody>
      </p:sp>
      <p:sp>
        <p:nvSpPr>
          <p:cNvPr id="52" name="Text 46"/>
          <p:cNvSpPr/>
          <p:nvPr/>
        </p:nvSpPr>
        <p:spPr>
          <a:xfrm>
            <a:off x="4725591" y="2896400"/>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3182CE"/>
                </a:solidFill>
              </a:rPr>
              <a:t>•</a:t>
            </a:r>
            <a:endParaRPr lang="en-US" sz="683" dirty="0"/>
          </a:p>
        </p:txBody>
      </p:sp>
      <p:sp>
        <p:nvSpPr>
          <p:cNvPr id="53" name="Text 47"/>
          <p:cNvSpPr/>
          <p:nvPr/>
        </p:nvSpPr>
        <p:spPr>
          <a:xfrm>
            <a:off x="4868466" y="2898186"/>
            <a:ext cx="926929"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5568"/>
                </a:solidFill>
              </a:rPr>
              <a:t>Aurora PG Engineer</a:t>
            </a:r>
            <a:endParaRPr lang="en-US" sz="727" dirty="0"/>
          </a:p>
        </p:txBody>
      </p:sp>
      <p:sp>
        <p:nvSpPr>
          <p:cNvPr id="54" name="Text 48"/>
          <p:cNvSpPr/>
          <p:nvPr/>
        </p:nvSpPr>
        <p:spPr>
          <a:xfrm>
            <a:off x="4725591" y="3107838"/>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3182CE"/>
                </a:solidFill>
              </a:rPr>
              <a:t>•</a:t>
            </a:r>
            <a:endParaRPr lang="en-US" sz="683" dirty="0"/>
          </a:p>
        </p:txBody>
      </p:sp>
      <p:sp>
        <p:nvSpPr>
          <p:cNvPr id="55" name="Text 49"/>
          <p:cNvSpPr/>
          <p:nvPr/>
        </p:nvSpPr>
        <p:spPr>
          <a:xfrm>
            <a:off x="4868466" y="3109624"/>
            <a:ext cx="967336"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5568"/>
                </a:solidFill>
              </a:rPr>
              <a:t>Data Validation Lead</a:t>
            </a:r>
            <a:endParaRPr lang="en-US" sz="727" dirty="0"/>
          </a:p>
        </p:txBody>
      </p:sp>
      <p:sp>
        <p:nvSpPr>
          <p:cNvPr id="56" name="Shape 50"/>
          <p:cNvSpPr/>
          <p:nvPr/>
        </p:nvSpPr>
        <p:spPr>
          <a:xfrm>
            <a:off x="6713339" y="1250156"/>
            <a:ext cx="2002036" cy="3186113"/>
          </a:xfrm>
          <a:prstGeom prst="rect">
            <a:avLst/>
          </a:prstGeom>
          <a:solidFill>
            <a:srgbClr val="F8F9FA"/>
          </a:solidFill>
          <a:ln/>
        </p:spPr>
      </p:sp>
      <p:sp>
        <p:nvSpPr>
          <p:cNvPr id="57" name="Shape 51"/>
          <p:cNvSpPr/>
          <p:nvPr/>
        </p:nvSpPr>
        <p:spPr>
          <a:xfrm>
            <a:off x="6713339" y="1250156"/>
            <a:ext cx="2002036" cy="35719"/>
          </a:xfrm>
          <a:prstGeom prst="rect">
            <a:avLst/>
          </a:prstGeom>
          <a:solidFill>
            <a:srgbClr val="3182CE"/>
          </a:solidFill>
          <a:ln/>
        </p:spPr>
      </p:sp>
      <p:sp>
        <p:nvSpPr>
          <p:cNvPr id="58" name="Shape 52"/>
          <p:cNvSpPr/>
          <p:nvPr/>
        </p:nvSpPr>
        <p:spPr>
          <a:xfrm>
            <a:off x="8708231" y="1250156"/>
            <a:ext cx="7144" cy="3186113"/>
          </a:xfrm>
          <a:prstGeom prst="rect">
            <a:avLst/>
          </a:prstGeom>
          <a:solidFill>
            <a:srgbClr val="E0E0E0"/>
          </a:solidFill>
          <a:ln/>
        </p:spPr>
      </p:sp>
      <p:sp>
        <p:nvSpPr>
          <p:cNvPr id="59" name="Shape 53"/>
          <p:cNvSpPr/>
          <p:nvPr/>
        </p:nvSpPr>
        <p:spPr>
          <a:xfrm>
            <a:off x="6713339" y="4429125"/>
            <a:ext cx="2002036" cy="7144"/>
          </a:xfrm>
          <a:prstGeom prst="rect">
            <a:avLst/>
          </a:prstGeom>
          <a:solidFill>
            <a:srgbClr val="E0E0E0"/>
          </a:solidFill>
          <a:ln/>
        </p:spPr>
      </p:sp>
      <p:sp>
        <p:nvSpPr>
          <p:cNvPr id="60" name="Shape 54"/>
          <p:cNvSpPr/>
          <p:nvPr/>
        </p:nvSpPr>
        <p:spPr>
          <a:xfrm>
            <a:off x="6713339" y="1250156"/>
            <a:ext cx="7144" cy="3186113"/>
          </a:xfrm>
          <a:prstGeom prst="rect">
            <a:avLst/>
          </a:prstGeom>
          <a:solidFill>
            <a:srgbClr val="E0E0E0"/>
          </a:solidFill>
          <a:ln/>
        </p:spPr>
      </p:sp>
      <p:sp>
        <p:nvSpPr>
          <p:cNvPr id="61" name="Shape 55"/>
          <p:cNvSpPr/>
          <p:nvPr/>
        </p:nvSpPr>
        <p:spPr>
          <a:xfrm>
            <a:off x="7505402" y="1428750"/>
            <a:ext cx="428625" cy="428625"/>
          </a:xfrm>
          <a:prstGeom prst="ellipse">
            <a:avLst/>
          </a:prstGeom>
          <a:solidFill>
            <a:srgbClr val="EBF8FF"/>
          </a:solidFill>
          <a:ln/>
        </p:spPr>
      </p:sp>
      <p:pic>
        <p:nvPicPr>
          <p:cNvPr id="62" name="Image 4" descr="preencoded.png">    </p:cNvPr>
          <p:cNvPicPr>
            <a:picLocks noChangeAspect="1"/>
          </p:cNvPicPr>
          <p:nvPr/>
        </p:nvPicPr>
        <p:blipFill>
          <a:blip r:embed="rId5"/>
          <a:stretch>
            <a:fillRect/>
          </a:stretch>
        </p:blipFill>
        <p:spPr>
          <a:xfrm>
            <a:off x="7619702" y="1543050"/>
            <a:ext cx="200025" cy="200025"/>
          </a:xfrm>
          <a:prstGeom prst="rect">
            <a:avLst/>
          </a:prstGeom>
        </p:spPr>
      </p:pic>
      <p:sp>
        <p:nvSpPr>
          <p:cNvPr id="63" name="Text 56"/>
          <p:cNvSpPr/>
          <p:nvPr/>
        </p:nvSpPr>
        <p:spPr>
          <a:xfrm>
            <a:off x="7263771" y="2000250"/>
            <a:ext cx="911861" cy="214313"/>
          </a:xfrm>
          <a:prstGeom prst="rect">
            <a:avLst/>
          </a:prstGeom>
          <a:noFill/>
          <a:ln/>
        </p:spPr>
        <p:txBody>
          <a:bodyPr wrap="none" lIns="0" tIns="0" rIns="0" bIns="0" rtlCol="0" anchor="t">
            <a:spAutoFit/>
          </a:bodyPr>
          <a:lstStyle/>
          <a:p>
            <a:pPr algn="ctr" indent="0" marL="0">
              <a:lnSpc>
                <a:spcPts val="1500"/>
              </a:lnSpc>
              <a:buNone/>
            </a:pPr>
            <a:r>
              <a:rPr lang="en-US" sz="1090" b="1" dirty="0">
                <a:solidFill>
                  <a:srgbClr val="2D3748"/>
                </a:solidFill>
              </a:rPr>
              <a:t>Team App 4</a:t>
            </a:r>
            <a:endParaRPr lang="en-US" sz="1090" dirty="0"/>
          </a:p>
        </p:txBody>
      </p:sp>
      <p:sp>
        <p:nvSpPr>
          <p:cNvPr id="64" name="Text 57"/>
          <p:cNvSpPr/>
          <p:nvPr/>
        </p:nvSpPr>
        <p:spPr>
          <a:xfrm>
            <a:off x="7205951" y="2250281"/>
            <a:ext cx="1027528" cy="116086"/>
          </a:xfrm>
          <a:prstGeom prst="rect">
            <a:avLst/>
          </a:prstGeom>
          <a:noFill/>
          <a:ln/>
        </p:spPr>
        <p:txBody>
          <a:bodyPr wrap="none" lIns="0" tIns="0" rIns="0" bIns="0" rtlCol="0" anchor="t">
            <a:spAutoFit/>
          </a:bodyPr>
          <a:lstStyle/>
          <a:p>
            <a:pPr algn="ctr" indent="0" marL="0">
              <a:lnSpc>
                <a:spcPts val="800"/>
              </a:lnSpc>
              <a:buNone/>
            </a:pPr>
            <a:r>
              <a:rPr lang="en-US" sz="584" b="1" dirty="0">
                <a:solidFill>
                  <a:srgbClr val="3182CE"/>
                </a:solidFill>
              </a:rPr>
              <a:t>SQL Server Migration</a:t>
            </a:r>
            <a:endParaRPr lang="en-US" sz="584" dirty="0"/>
          </a:p>
        </p:txBody>
      </p:sp>
      <p:sp>
        <p:nvSpPr>
          <p:cNvPr id="65" name="Text 58"/>
          <p:cNvSpPr/>
          <p:nvPr/>
        </p:nvSpPr>
        <p:spPr>
          <a:xfrm>
            <a:off x="6831211" y="2473523"/>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3182CE"/>
                </a:solidFill>
              </a:rPr>
              <a:t>•</a:t>
            </a:r>
            <a:endParaRPr lang="en-US" sz="683" dirty="0"/>
          </a:p>
        </p:txBody>
      </p:sp>
      <p:sp>
        <p:nvSpPr>
          <p:cNvPr id="66" name="Text 59"/>
          <p:cNvSpPr/>
          <p:nvPr/>
        </p:nvSpPr>
        <p:spPr>
          <a:xfrm>
            <a:off x="6974086" y="2475309"/>
            <a:ext cx="1103151"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5568"/>
                </a:solidFill>
              </a:rPr>
              <a:t>Analytics Platform Lead</a:t>
            </a:r>
            <a:endParaRPr lang="en-US" sz="727" dirty="0"/>
          </a:p>
        </p:txBody>
      </p:sp>
      <p:sp>
        <p:nvSpPr>
          <p:cNvPr id="67" name="Text 60"/>
          <p:cNvSpPr/>
          <p:nvPr/>
        </p:nvSpPr>
        <p:spPr>
          <a:xfrm>
            <a:off x="6831211" y="2684962"/>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3182CE"/>
                </a:solidFill>
              </a:rPr>
              <a:t>•</a:t>
            </a:r>
            <a:endParaRPr lang="en-US" sz="683" dirty="0"/>
          </a:p>
        </p:txBody>
      </p:sp>
      <p:sp>
        <p:nvSpPr>
          <p:cNvPr id="68" name="Text 61"/>
          <p:cNvSpPr/>
          <p:nvPr/>
        </p:nvSpPr>
        <p:spPr>
          <a:xfrm>
            <a:off x="6974086" y="2686748"/>
            <a:ext cx="976936"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5568"/>
                </a:solidFill>
              </a:rPr>
              <a:t>SQL Server Specialist</a:t>
            </a:r>
            <a:endParaRPr lang="en-US" sz="727" dirty="0"/>
          </a:p>
        </p:txBody>
      </p:sp>
      <p:sp>
        <p:nvSpPr>
          <p:cNvPr id="69" name="Text 62"/>
          <p:cNvSpPr/>
          <p:nvPr/>
        </p:nvSpPr>
        <p:spPr>
          <a:xfrm>
            <a:off x="6831211" y="2896400"/>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3182CE"/>
                </a:solidFill>
              </a:rPr>
              <a:t>•</a:t>
            </a:r>
            <a:endParaRPr lang="en-US" sz="683" dirty="0"/>
          </a:p>
        </p:txBody>
      </p:sp>
      <p:sp>
        <p:nvSpPr>
          <p:cNvPr id="70" name="Text 63"/>
          <p:cNvSpPr/>
          <p:nvPr/>
        </p:nvSpPr>
        <p:spPr>
          <a:xfrm>
            <a:off x="6974086" y="2898186"/>
            <a:ext cx="926929"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5568"/>
                </a:solidFill>
              </a:rPr>
              <a:t>Aurora PG Engineer</a:t>
            </a:r>
            <a:endParaRPr lang="en-US" sz="727" dirty="0"/>
          </a:p>
        </p:txBody>
      </p:sp>
      <p:sp>
        <p:nvSpPr>
          <p:cNvPr id="71" name="Text 64"/>
          <p:cNvSpPr/>
          <p:nvPr/>
        </p:nvSpPr>
        <p:spPr>
          <a:xfrm>
            <a:off x="6831211" y="3107838"/>
            <a:ext cx="37588" cy="140001"/>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3182CE"/>
                </a:solidFill>
              </a:rPr>
              <a:t>•</a:t>
            </a:r>
            <a:endParaRPr lang="en-US" sz="683" dirty="0"/>
          </a:p>
        </p:txBody>
      </p:sp>
      <p:sp>
        <p:nvSpPr>
          <p:cNvPr id="72" name="Text 65"/>
          <p:cNvSpPr/>
          <p:nvPr/>
        </p:nvSpPr>
        <p:spPr>
          <a:xfrm>
            <a:off x="6974086" y="3109624"/>
            <a:ext cx="1137949"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5568"/>
                </a:solidFill>
              </a:rPr>
              <a:t>BI &amp; Reporting Engineer</a:t>
            </a:r>
            <a:endParaRPr lang="en-US" sz="727" dirty="0"/>
          </a:p>
        </p:txBody>
      </p:sp>
      <p:sp>
        <p:nvSpPr>
          <p:cNvPr id="73" name="Text 66"/>
          <p:cNvSpPr/>
          <p:nvPr/>
        </p:nvSpPr>
        <p:spPr>
          <a:xfrm>
            <a:off x="428625" y="4722019"/>
            <a:ext cx="8286750" cy="135731"/>
          </a:xfrm>
          <a:prstGeom prst="rect">
            <a:avLst/>
          </a:prstGeom>
          <a:noFill/>
          <a:ln/>
        </p:spPr>
        <p:txBody>
          <a:bodyPr wrap="none" lIns="0" tIns="0" rIns="0" bIns="0" rtlCol="0" anchor="t">
            <a:spAutoFit/>
          </a:bodyPr>
          <a:lstStyle/>
          <a:p>
            <a:pPr algn="ctr" indent="0" marL="0">
              <a:lnSpc>
                <a:spcPts val="900"/>
              </a:lnSpc>
              <a:buNone/>
            </a:pPr>
            <a:r>
              <a:rPr lang="en-US" sz="727" i="1" dirty="0">
                <a:solidFill>
                  <a:srgbClr val="718096"/>
                </a:solidFill>
              </a:rPr>
              <a:t>* Each team is empowered with dedicated resources to ensure parallel execution and specialized focus on application-specific requirements.</a:t>
            </a:r>
            <a:endParaRPr lang="en-US" sz="72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2026-02-23T05:23:19Z</dcterms:created>
  <dcterms:modified xsi:type="dcterms:W3CDTF">2026-02-23T05:23:19Z</dcterms:modified>
</cp:coreProperties>
</file>